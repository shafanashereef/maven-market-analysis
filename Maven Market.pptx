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0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</p:sldIdLst>
  <p:sldSz cy="5143500" cx="9144000"/>
  <p:notesSz cx="6858000" cy="9144000"/>
  <p:embeddedFontLst>
    <p:embeddedFont>
      <p:font typeface="Montserrat SemiBold"/>
      <p:regular r:id="rId26"/>
      <p:bold r:id="rId27"/>
      <p:italic r:id="rId28"/>
      <p:boldItalic r:id="rId29"/>
    </p:embeddedFont>
    <p:embeddedFont>
      <p:font typeface="Montserrat"/>
      <p:regular r:id="rId30"/>
      <p:bold r:id="rId31"/>
      <p:italic r:id="rId32"/>
      <p:boldItalic r:id="rId33"/>
    </p:embeddedFont>
    <p:embeddedFont>
      <p:font typeface="Montserrat Medium"/>
      <p:regular r:id="rId34"/>
      <p:bold r:id="rId35"/>
      <p:italic r:id="rId36"/>
      <p:boldItalic r:id="rId37"/>
    </p:embeddedFont>
    <p:embeddedFont>
      <p:font typeface="Montserrat ExtraBold"/>
      <p:bold r:id="rId38"/>
      <p:boldItalic r:id="rId39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5.xml"/><Relationship Id="rId22" Type="http://schemas.openxmlformats.org/officeDocument/2006/relationships/slide" Target="slides/slide17.xml"/><Relationship Id="rId21" Type="http://schemas.openxmlformats.org/officeDocument/2006/relationships/slide" Target="slides/slide16.xml"/><Relationship Id="rId24" Type="http://schemas.openxmlformats.org/officeDocument/2006/relationships/slide" Target="slides/slide19.xml"/><Relationship Id="rId23" Type="http://schemas.openxmlformats.org/officeDocument/2006/relationships/slide" Target="slides/slide18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26" Type="http://schemas.openxmlformats.org/officeDocument/2006/relationships/font" Target="fonts/MontserratSemiBold-regular.fntdata"/><Relationship Id="rId25" Type="http://schemas.openxmlformats.org/officeDocument/2006/relationships/slide" Target="slides/slide20.xml"/><Relationship Id="rId28" Type="http://schemas.openxmlformats.org/officeDocument/2006/relationships/font" Target="fonts/MontserratSemiBold-italic.fntdata"/><Relationship Id="rId27" Type="http://schemas.openxmlformats.org/officeDocument/2006/relationships/font" Target="fonts/MontserratSemiBold-bold.fnt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29" Type="http://schemas.openxmlformats.org/officeDocument/2006/relationships/font" Target="fonts/MontserratSemiBold-boldItalic.fntdata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31" Type="http://schemas.openxmlformats.org/officeDocument/2006/relationships/font" Target="fonts/Montserrat-bold.fntdata"/><Relationship Id="rId30" Type="http://schemas.openxmlformats.org/officeDocument/2006/relationships/font" Target="fonts/Montserrat-regular.fntdata"/><Relationship Id="rId11" Type="http://schemas.openxmlformats.org/officeDocument/2006/relationships/slide" Target="slides/slide6.xml"/><Relationship Id="rId33" Type="http://schemas.openxmlformats.org/officeDocument/2006/relationships/font" Target="fonts/Montserrat-boldItalic.fntdata"/><Relationship Id="rId10" Type="http://schemas.openxmlformats.org/officeDocument/2006/relationships/slide" Target="slides/slide5.xml"/><Relationship Id="rId32" Type="http://schemas.openxmlformats.org/officeDocument/2006/relationships/font" Target="fonts/Montserrat-italic.fntdata"/><Relationship Id="rId13" Type="http://schemas.openxmlformats.org/officeDocument/2006/relationships/slide" Target="slides/slide8.xml"/><Relationship Id="rId35" Type="http://schemas.openxmlformats.org/officeDocument/2006/relationships/font" Target="fonts/MontserratMedium-bold.fntdata"/><Relationship Id="rId12" Type="http://schemas.openxmlformats.org/officeDocument/2006/relationships/slide" Target="slides/slide7.xml"/><Relationship Id="rId34" Type="http://schemas.openxmlformats.org/officeDocument/2006/relationships/font" Target="fonts/MontserratMedium-regular.fntdata"/><Relationship Id="rId15" Type="http://schemas.openxmlformats.org/officeDocument/2006/relationships/slide" Target="slides/slide10.xml"/><Relationship Id="rId37" Type="http://schemas.openxmlformats.org/officeDocument/2006/relationships/font" Target="fonts/MontserratMedium-boldItalic.fntdata"/><Relationship Id="rId14" Type="http://schemas.openxmlformats.org/officeDocument/2006/relationships/slide" Target="slides/slide9.xml"/><Relationship Id="rId36" Type="http://schemas.openxmlformats.org/officeDocument/2006/relationships/font" Target="fonts/MontserratMedium-italic.fntdata"/><Relationship Id="rId17" Type="http://schemas.openxmlformats.org/officeDocument/2006/relationships/slide" Target="slides/slide12.xml"/><Relationship Id="rId39" Type="http://schemas.openxmlformats.org/officeDocument/2006/relationships/font" Target="fonts/MontserratExtraBold-boldItalic.fntdata"/><Relationship Id="rId16" Type="http://schemas.openxmlformats.org/officeDocument/2006/relationships/slide" Target="slides/slide11.xml"/><Relationship Id="rId38" Type="http://schemas.openxmlformats.org/officeDocument/2006/relationships/font" Target="fonts/MontserratExtraBold-bold.fntdata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7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g3b08093129b_0_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9" name="Google Shape;59;g3b08093129b_0_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3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g3b08093129b_0_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5" name="Google Shape;65;g3b08093129b_0_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g3b08093129b_0_1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0" name="Google Shape;70;g3b08093129b_0_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g3b08093129b_0_2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6" name="Google Shape;76;g3b08093129b_0_2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g3b0ea9c3092_0_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1" name="Google Shape;91;g3b0ea9c3092_0_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g3b08093129b_0_3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7" name="Google Shape;97;g3b08093129b_0_3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g3b0f397b3d4_1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6" name="Google Shape;106;g3b0f397b3d4_1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g3b0f397b3d4_1_1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2" name="Google Shape;112;g3b0f397b3d4_1_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9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g3b0f397b3d4_1_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1" name="Google Shape;121;g3b0f397b3d4_1_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5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g3b0f397b3d4_1_2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7" name="Google Shape;127;g3b0f397b3d4_1_2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4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g3b0f397b3d4_1_3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6" name="Google Shape;136;g3b0f397b3d4_1_3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0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g3b0f397b3d4_1_2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2" name="Google Shape;142;g3b0f397b3d4_1_2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7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Google Shape;148;g3b0f397b3d4_1_7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9" name="Google Shape;149;g3b0f397b3d4_1_7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3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Google Shape;154;g3b08093129b_0_7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5" name="Google Shape;155;g3b08093129b_0_7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9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Google Shape;160;g3b0f397b3d4_1_7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1" name="Google Shape;161;g3b0f397b3d4_1_7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5" name="Shape 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Google Shape;166;g3b0f397b3d4_1_8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7" name="Google Shape;167;g3b0f397b3d4_1_8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1" name="Shape 1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Google Shape;172;g3b0f397b3d4_1_8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3" name="Google Shape;173;g3b0f397b3d4_1_8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7" name="Shape 1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" name="Google Shape;178;g3b0f397b3d4_1_9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9" name="Google Shape;179;g3b0f397b3d4_1_9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3" name="Shape 1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" name="Google Shape;184;g3b0f397b3d4_1_6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5" name="Google Shape;185;g3b0f397b3d4_1_6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8.png"/><Relationship Id="rId4" Type="http://schemas.openxmlformats.org/officeDocument/2006/relationships/image" Target="../media/image4.png"/><Relationship Id="rId10" Type="http://schemas.openxmlformats.org/officeDocument/2006/relationships/image" Target="../media/image16.png"/><Relationship Id="rId9" Type="http://schemas.openxmlformats.org/officeDocument/2006/relationships/image" Target="../media/image1.png"/><Relationship Id="rId5" Type="http://schemas.openxmlformats.org/officeDocument/2006/relationships/image" Target="../media/image6.png"/><Relationship Id="rId6" Type="http://schemas.openxmlformats.org/officeDocument/2006/relationships/image" Target="../media/image20.png"/><Relationship Id="rId7" Type="http://schemas.openxmlformats.org/officeDocument/2006/relationships/image" Target="../media/image9.png"/><Relationship Id="rId8" Type="http://schemas.openxmlformats.org/officeDocument/2006/relationships/image" Target="../media/image8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3.png"/><Relationship Id="rId4" Type="http://schemas.openxmlformats.org/officeDocument/2006/relationships/image" Target="../media/image5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2.png"/><Relationship Id="rId4" Type="http://schemas.openxmlformats.org/officeDocument/2006/relationships/image" Target="../media/image10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12.png"/><Relationship Id="rId4" Type="http://schemas.openxmlformats.org/officeDocument/2006/relationships/image" Target="../media/image14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19.png"/><Relationship Id="rId4" Type="http://schemas.openxmlformats.org/officeDocument/2006/relationships/image" Target="../media/image17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11.pn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15.pn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7.png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13.png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0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DDDEDF"/>
        </a:solidFill>
      </p:bgPr>
    </p:bg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4400">
                <a:solidFill>
                  <a:srgbClr val="4A4566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rPr>
              <a:t>Business Performance &amp; Customer Analytics Overview</a:t>
            </a:r>
            <a:endParaRPr sz="4400">
              <a:solidFill>
                <a:srgbClr val="4A4566"/>
              </a:solidFill>
              <a:latin typeface="Montserrat ExtraBold"/>
              <a:ea typeface="Montserrat ExtraBold"/>
              <a:cs typeface="Montserrat ExtraBold"/>
              <a:sym typeface="Montserrat ExtraBold"/>
            </a:endParaRPr>
          </a:p>
        </p:txBody>
      </p:sp>
      <p:sp>
        <p:nvSpPr>
          <p:cNvPr id="55" name="Google Shape;55;p13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>
                <a:solidFill>
                  <a:srgbClr val="5E5A78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Period: 1997–1998</a:t>
            </a:r>
            <a:endParaRPr sz="2000">
              <a:solidFill>
                <a:srgbClr val="5E5A78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</p:txBody>
      </p:sp>
      <p:sp>
        <p:nvSpPr>
          <p:cNvPr id="56" name="Google Shape;56;p13"/>
          <p:cNvSpPr txBox="1"/>
          <p:nvPr/>
        </p:nvSpPr>
        <p:spPr>
          <a:xfrm>
            <a:off x="0" y="3436475"/>
            <a:ext cx="9144000" cy="463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4E5358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Prepared by : Shafana Shereef </a:t>
            </a:r>
            <a:endParaRPr>
              <a:solidFill>
                <a:srgbClr val="4E5358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DDDEDF"/>
        </a:solidFill>
      </p:bgPr>
    </p:bg>
    <p:spTree>
      <p:nvGrpSpPr>
        <p:cNvPr id="60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14"/>
          <p:cNvSpPr txBox="1"/>
          <p:nvPr>
            <p:ph type="title"/>
          </p:nvPr>
        </p:nvSpPr>
        <p:spPr>
          <a:xfrm>
            <a:off x="311700" y="20690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n" sz="2820">
                <a:solidFill>
                  <a:srgbClr val="4A4566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Objective of the Analysis</a:t>
            </a:r>
            <a:endParaRPr b="1" sz="2820">
              <a:solidFill>
                <a:srgbClr val="4A4566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62" name="Google Shape;62;p14"/>
          <p:cNvSpPr txBox="1"/>
          <p:nvPr>
            <p:ph idx="1" type="body"/>
          </p:nvPr>
        </p:nvSpPr>
        <p:spPr>
          <a:xfrm>
            <a:off x="311700" y="879750"/>
            <a:ext cx="8832300" cy="426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32500" lnSpcReduction="20000"/>
          </a:bodyPr>
          <a:lstStyle/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358"/>
              <a:buFont typeface="Arial"/>
              <a:buNone/>
            </a:pPr>
            <a:r>
              <a:rPr lang="en" sz="6230">
                <a:solidFill>
                  <a:srgbClr val="5E5A78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The objectives of this analysis are to:</a:t>
            </a:r>
            <a:endParaRPr sz="6230">
              <a:solidFill>
                <a:srgbClr val="5E5A78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  <a:p>
            <a:pPr indent="-342106" lvl="0" marL="457200" rtl="0" algn="l">
              <a:spcBef>
                <a:spcPts val="1200"/>
              </a:spcBef>
              <a:spcAft>
                <a:spcPts val="0"/>
              </a:spcAft>
              <a:buClr>
                <a:srgbClr val="58527B"/>
              </a:buClr>
              <a:buSzPct val="100000"/>
              <a:buChar char="●"/>
            </a:pPr>
            <a:r>
              <a:rPr lang="en" sz="5500">
                <a:solidFill>
                  <a:srgbClr val="58527B"/>
                </a:solidFill>
                <a:latin typeface="Montserrat"/>
                <a:ea typeface="Montserrat"/>
                <a:cs typeface="Montserrat"/>
                <a:sym typeface="Montserrat"/>
              </a:rPr>
              <a:t>Evaluate overall business performance across</a:t>
            </a:r>
            <a:r>
              <a:rPr lang="en" sz="5500">
                <a:solidFill>
                  <a:srgbClr val="A2A0B2"/>
                </a:solidFill>
              </a:rPr>
              <a:t> </a:t>
            </a:r>
            <a:r>
              <a:rPr lang="en" sz="5500">
                <a:solidFill>
                  <a:srgbClr val="18A0A9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Revenue, Profit, Sales, Customers, and Products</a:t>
            </a:r>
            <a:endParaRPr sz="5500">
              <a:solidFill>
                <a:srgbClr val="18A0A9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  <a:p>
            <a:pPr indent="-342106" lvl="0" marL="457200" rtl="0" algn="l">
              <a:spcBef>
                <a:spcPts val="0"/>
              </a:spcBef>
              <a:spcAft>
                <a:spcPts val="0"/>
              </a:spcAft>
              <a:buClr>
                <a:srgbClr val="58527B"/>
              </a:buClr>
              <a:buSzPct val="100000"/>
              <a:buChar char="●"/>
            </a:pPr>
            <a:r>
              <a:rPr lang="en" sz="5500">
                <a:solidFill>
                  <a:srgbClr val="58527B"/>
                </a:solidFill>
                <a:latin typeface="Montserrat"/>
                <a:ea typeface="Montserrat"/>
                <a:cs typeface="Montserrat"/>
                <a:sym typeface="Montserrat"/>
              </a:rPr>
              <a:t>Identify key</a:t>
            </a:r>
            <a:r>
              <a:rPr lang="en" sz="5500">
                <a:solidFill>
                  <a:srgbClr val="A2A0B2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  <a:r>
              <a:rPr lang="en" sz="5500">
                <a:solidFill>
                  <a:srgbClr val="18A0A9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growth drivers and risk areas</a:t>
            </a:r>
            <a:endParaRPr b="1" sz="5500">
              <a:solidFill>
                <a:schemeClr val="dk1"/>
              </a:solidFill>
            </a:endParaRPr>
          </a:p>
          <a:p>
            <a:pPr indent="-342106" lvl="0" marL="457200" rtl="0" algn="l">
              <a:spcBef>
                <a:spcPts val="0"/>
              </a:spcBef>
              <a:spcAft>
                <a:spcPts val="0"/>
              </a:spcAft>
              <a:buClr>
                <a:srgbClr val="58527B"/>
              </a:buClr>
              <a:buSzPct val="100000"/>
              <a:buChar char="●"/>
            </a:pPr>
            <a:r>
              <a:rPr lang="en" sz="5500">
                <a:solidFill>
                  <a:srgbClr val="58527B"/>
                </a:solidFill>
                <a:latin typeface="Montserrat"/>
                <a:ea typeface="Montserrat"/>
                <a:cs typeface="Montserrat"/>
                <a:sym typeface="Montserrat"/>
              </a:rPr>
              <a:t>Understand</a:t>
            </a:r>
            <a:r>
              <a:rPr lang="en" sz="5500">
                <a:solidFill>
                  <a:srgbClr val="18A0A9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 customer behavior and segmentation</a:t>
            </a:r>
            <a:endParaRPr b="1" sz="5500">
              <a:solidFill>
                <a:schemeClr val="dk1"/>
              </a:solidFill>
            </a:endParaRPr>
          </a:p>
          <a:p>
            <a:pPr indent="-342106" lvl="0" marL="457200" rtl="0" algn="l">
              <a:spcBef>
                <a:spcPts val="0"/>
              </a:spcBef>
              <a:spcAft>
                <a:spcPts val="0"/>
              </a:spcAft>
              <a:buClr>
                <a:srgbClr val="58527B"/>
              </a:buClr>
              <a:buSzPct val="100000"/>
              <a:buChar char="●"/>
            </a:pPr>
            <a:r>
              <a:rPr lang="en" sz="5500">
                <a:solidFill>
                  <a:srgbClr val="58527B"/>
                </a:solidFill>
                <a:latin typeface="Montserrat"/>
                <a:ea typeface="Montserrat"/>
                <a:cs typeface="Montserrat"/>
                <a:sym typeface="Montserrat"/>
              </a:rPr>
              <a:t>Assess</a:t>
            </a:r>
            <a:r>
              <a:rPr lang="en" sz="5500">
                <a:solidFill>
                  <a:schemeClr val="dk1"/>
                </a:solidFill>
              </a:rPr>
              <a:t> </a:t>
            </a:r>
            <a:r>
              <a:rPr lang="en" sz="5500">
                <a:solidFill>
                  <a:srgbClr val="18A0A9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product and brand profitability</a:t>
            </a:r>
            <a:endParaRPr b="1" sz="5500">
              <a:solidFill>
                <a:schemeClr val="dk1"/>
              </a:solidFill>
            </a:endParaRPr>
          </a:p>
          <a:p>
            <a:pPr indent="-342106" lvl="0" marL="457200" rtl="0" algn="l">
              <a:spcBef>
                <a:spcPts val="0"/>
              </a:spcBef>
              <a:spcAft>
                <a:spcPts val="0"/>
              </a:spcAft>
              <a:buClr>
                <a:srgbClr val="58527B"/>
              </a:buClr>
              <a:buSzPct val="100000"/>
              <a:buChar char="●"/>
            </a:pPr>
            <a:r>
              <a:rPr lang="en" sz="5500">
                <a:solidFill>
                  <a:srgbClr val="58527B"/>
                </a:solidFill>
                <a:latin typeface="Montserrat"/>
                <a:ea typeface="Montserrat"/>
                <a:cs typeface="Montserrat"/>
                <a:sym typeface="Montserrat"/>
              </a:rPr>
              <a:t>Provide</a:t>
            </a:r>
            <a:r>
              <a:rPr lang="en" sz="5500">
                <a:solidFill>
                  <a:srgbClr val="A2A0B2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  <a:r>
              <a:rPr lang="en" sz="5500">
                <a:solidFill>
                  <a:srgbClr val="18A0A9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actionable insights and strategic recommendations</a:t>
            </a:r>
            <a:br>
              <a:rPr lang="en" sz="5500">
                <a:solidFill>
                  <a:srgbClr val="18A0A9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</a:br>
            <a:endParaRPr b="1" sz="5500">
              <a:solidFill>
                <a:schemeClr val="dk1"/>
              </a:solidFill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4500">
                <a:solidFill>
                  <a:srgbClr val="5E5A78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Scope Covered:</a:t>
            </a:r>
            <a:endParaRPr sz="3850">
              <a:solidFill>
                <a:srgbClr val="A2A0B2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  <a:p>
            <a:pPr indent="-331390" lvl="0" marL="457200" marR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rgbClr val="58527B"/>
              </a:buClr>
              <a:buSzPct val="123804"/>
              <a:buFont typeface="Montserrat"/>
              <a:buChar char="●"/>
            </a:pPr>
            <a:r>
              <a:rPr lang="en" sz="4023">
                <a:solidFill>
                  <a:srgbClr val="58527B"/>
                </a:solidFill>
                <a:latin typeface="Montserrat"/>
                <a:ea typeface="Montserrat"/>
                <a:cs typeface="Montserrat"/>
                <a:sym typeface="Montserrat"/>
              </a:rPr>
              <a:t>Executive Summary</a:t>
            </a:r>
            <a:endParaRPr sz="4023">
              <a:solidFill>
                <a:srgbClr val="58527B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33139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8527B"/>
              </a:buClr>
              <a:buSzPct val="123804"/>
              <a:buFont typeface="Montserrat"/>
              <a:buChar char="●"/>
            </a:pPr>
            <a:r>
              <a:rPr lang="en" sz="4023">
                <a:solidFill>
                  <a:srgbClr val="58527B"/>
                </a:solidFill>
                <a:latin typeface="Montserrat"/>
                <a:ea typeface="Montserrat"/>
                <a:cs typeface="Montserrat"/>
                <a:sym typeface="Montserrat"/>
              </a:rPr>
              <a:t>Sales Performance</a:t>
            </a:r>
            <a:endParaRPr sz="4023">
              <a:solidFill>
                <a:srgbClr val="58527B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33139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8527B"/>
              </a:buClr>
              <a:buSzPct val="123804"/>
              <a:buFont typeface="Montserrat"/>
              <a:buChar char="●"/>
            </a:pPr>
            <a:r>
              <a:rPr lang="en" sz="4023">
                <a:solidFill>
                  <a:srgbClr val="58527B"/>
                </a:solidFill>
                <a:latin typeface="Montserrat"/>
                <a:ea typeface="Montserrat"/>
                <a:cs typeface="Montserrat"/>
                <a:sym typeface="Montserrat"/>
              </a:rPr>
              <a:t>Customer Analytics</a:t>
            </a:r>
            <a:endParaRPr sz="4023">
              <a:solidFill>
                <a:srgbClr val="58527B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33139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8527B"/>
              </a:buClr>
              <a:buSzPct val="123804"/>
              <a:buFont typeface="Montserrat"/>
              <a:buChar char="●"/>
            </a:pPr>
            <a:r>
              <a:rPr lang="en" sz="4023">
                <a:solidFill>
                  <a:srgbClr val="58527B"/>
                </a:solidFill>
                <a:latin typeface="Montserrat"/>
                <a:ea typeface="Montserrat"/>
                <a:cs typeface="Montserrat"/>
                <a:sym typeface="Montserrat"/>
              </a:rPr>
              <a:t>Product Performance &amp; Profitability</a:t>
            </a:r>
            <a:endParaRPr sz="4023">
              <a:solidFill>
                <a:srgbClr val="58527B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b="1" sz="11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DDDEDF"/>
        </a:solidFill>
      </p:bgPr>
    </p:bg>
    <p:spTree>
      <p:nvGrpSpPr>
        <p:cNvPr id="66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15"/>
          <p:cNvSpPr txBox="1"/>
          <p:nvPr>
            <p:ph idx="1" type="body"/>
          </p:nvPr>
        </p:nvSpPr>
        <p:spPr>
          <a:xfrm>
            <a:off x="311700" y="190450"/>
            <a:ext cx="8525100" cy="4953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 sz="2400">
                <a:solidFill>
                  <a:srgbClr val="5E5A78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Dataset Overview</a:t>
            </a:r>
            <a:endParaRPr sz="2400">
              <a:solidFill>
                <a:srgbClr val="5E5A78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  <a:p>
            <a:pPr indent="-317500" lvl="0" marL="457200" rtl="0" algn="l">
              <a:spcBef>
                <a:spcPts val="1200"/>
              </a:spcBef>
              <a:spcAft>
                <a:spcPts val="0"/>
              </a:spcAft>
              <a:buClr>
                <a:srgbClr val="58527B"/>
              </a:buClr>
              <a:buSzPts val="1400"/>
              <a:buFont typeface="Montserrat"/>
              <a:buChar char="●"/>
            </a:pPr>
            <a:r>
              <a:rPr lang="en" sz="1600">
                <a:solidFill>
                  <a:srgbClr val="5E5A78"/>
                </a:solidFill>
                <a:latin typeface="Montserrat"/>
                <a:ea typeface="Montserrat"/>
                <a:cs typeface="Montserrat"/>
                <a:sym typeface="Montserrat"/>
              </a:rPr>
              <a:t>Time Period:</a:t>
            </a:r>
            <a:r>
              <a:rPr lang="en" sz="1100">
                <a:solidFill>
                  <a:srgbClr val="5E5A78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  <a:r>
              <a:rPr lang="en" sz="1600">
                <a:solidFill>
                  <a:srgbClr val="18A0A9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1997–1998</a:t>
            </a:r>
            <a:endParaRPr sz="1600">
              <a:solidFill>
                <a:srgbClr val="18A0A9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rgbClr val="58527B"/>
              </a:buClr>
              <a:buSzPts val="1400"/>
              <a:buFont typeface="Montserrat"/>
              <a:buChar char="●"/>
            </a:pPr>
            <a:r>
              <a:rPr lang="en" sz="1600">
                <a:solidFill>
                  <a:srgbClr val="5E5A78"/>
                </a:solidFill>
                <a:latin typeface="Montserrat"/>
                <a:ea typeface="Montserrat"/>
                <a:cs typeface="Montserrat"/>
                <a:sym typeface="Montserrat"/>
              </a:rPr>
              <a:t>Total Customers:</a:t>
            </a:r>
            <a:r>
              <a:rPr lang="en" sz="1100">
                <a:solidFill>
                  <a:srgbClr val="5E5A78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  <a:r>
              <a:rPr lang="en" sz="1600">
                <a:solidFill>
                  <a:srgbClr val="18A0A9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~10,000</a:t>
            </a:r>
            <a:endParaRPr sz="1600">
              <a:solidFill>
                <a:srgbClr val="18A0A9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rgbClr val="58527B"/>
              </a:buClr>
              <a:buSzPts val="1400"/>
              <a:buFont typeface="Montserrat"/>
              <a:buChar char="●"/>
            </a:pPr>
            <a:r>
              <a:rPr lang="en" sz="1600">
                <a:solidFill>
                  <a:srgbClr val="5E5A78"/>
                </a:solidFill>
                <a:latin typeface="Montserrat"/>
                <a:ea typeface="Montserrat"/>
                <a:cs typeface="Montserrat"/>
                <a:sym typeface="Montserrat"/>
              </a:rPr>
              <a:t>Total Transactions:</a:t>
            </a:r>
            <a:r>
              <a:rPr lang="en" sz="1100">
                <a:solidFill>
                  <a:srgbClr val="5E5A78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  <a:r>
              <a:rPr lang="en" sz="1600">
                <a:solidFill>
                  <a:srgbClr val="18A0A9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~270,000</a:t>
            </a:r>
            <a:endParaRPr b="1" sz="1100">
              <a:solidFill>
                <a:schemeClr val="dk1"/>
              </a:solidFill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rgbClr val="58527B"/>
              </a:buClr>
              <a:buSzPts val="1400"/>
              <a:buFont typeface="Montserrat"/>
              <a:buChar char="●"/>
            </a:pPr>
            <a:r>
              <a:rPr lang="en" sz="1600">
                <a:solidFill>
                  <a:srgbClr val="5E5A78"/>
                </a:solidFill>
                <a:latin typeface="Montserrat"/>
                <a:ea typeface="Montserrat"/>
                <a:cs typeface="Montserrat"/>
                <a:sym typeface="Montserrat"/>
              </a:rPr>
              <a:t>Total Revenue: </a:t>
            </a:r>
            <a:r>
              <a:rPr lang="en" sz="1600">
                <a:solidFill>
                  <a:srgbClr val="18A0A9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$1.76M</a:t>
            </a:r>
            <a:endParaRPr b="1" sz="1100">
              <a:solidFill>
                <a:schemeClr val="dk1"/>
              </a:solidFill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rgbClr val="58527B"/>
              </a:buClr>
              <a:buSzPts val="1400"/>
              <a:buFont typeface="Montserrat"/>
              <a:buChar char="●"/>
            </a:pPr>
            <a:r>
              <a:rPr lang="en" sz="1600">
                <a:solidFill>
                  <a:srgbClr val="5E5A78"/>
                </a:solidFill>
                <a:latin typeface="Montserrat"/>
                <a:ea typeface="Montserrat"/>
                <a:cs typeface="Montserrat"/>
                <a:sym typeface="Montserrat"/>
              </a:rPr>
              <a:t>Total Profit:</a:t>
            </a:r>
            <a:r>
              <a:rPr lang="en" sz="1100">
                <a:solidFill>
                  <a:schemeClr val="dk1"/>
                </a:solidFill>
              </a:rPr>
              <a:t> </a:t>
            </a:r>
            <a:r>
              <a:rPr lang="en" sz="1600">
                <a:solidFill>
                  <a:srgbClr val="18A0A9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$1.05M</a:t>
            </a:r>
            <a:br>
              <a:rPr b="1" lang="en" sz="1100">
                <a:solidFill>
                  <a:schemeClr val="dk1"/>
                </a:solidFill>
              </a:rPr>
            </a:br>
            <a:endParaRPr b="1" sz="11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 sz="2400">
                <a:solidFill>
                  <a:srgbClr val="5E5A78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Key Dimensions Included</a:t>
            </a:r>
            <a:endParaRPr sz="2550">
              <a:solidFill>
                <a:srgbClr val="5E5A78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  <a:p>
            <a:pPr indent="-317500" lvl="0" marL="457200" marR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rgbClr val="58527B"/>
              </a:buClr>
              <a:buSzPts val="1400"/>
              <a:buFont typeface="Montserrat"/>
              <a:buChar char="●"/>
            </a:pPr>
            <a:r>
              <a:rPr lang="en" sz="1600">
                <a:solidFill>
                  <a:srgbClr val="5E5A78"/>
                </a:solidFill>
                <a:latin typeface="Montserrat"/>
                <a:ea typeface="Montserrat"/>
                <a:cs typeface="Montserrat"/>
                <a:sym typeface="Montserrat"/>
              </a:rPr>
              <a:t>Time (Daily, Monthly, YTD)</a:t>
            </a:r>
            <a:endParaRPr sz="1600">
              <a:solidFill>
                <a:srgbClr val="5E5A78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rgbClr val="58527B"/>
              </a:buClr>
              <a:buSzPts val="1400"/>
              <a:buFont typeface="Montserrat"/>
              <a:buChar char="●"/>
            </a:pPr>
            <a:r>
              <a:rPr lang="en" sz="1600">
                <a:solidFill>
                  <a:srgbClr val="5E5A78"/>
                </a:solidFill>
                <a:latin typeface="Montserrat"/>
                <a:ea typeface="Montserrat"/>
                <a:cs typeface="Montserrat"/>
                <a:sym typeface="Montserrat"/>
              </a:rPr>
              <a:t>Products &amp; Brands</a:t>
            </a:r>
            <a:endParaRPr sz="1600">
              <a:solidFill>
                <a:srgbClr val="5E5A78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rgbClr val="58527B"/>
              </a:buClr>
              <a:buSzPts val="1400"/>
              <a:buFont typeface="Montserrat"/>
              <a:buChar char="●"/>
            </a:pPr>
            <a:r>
              <a:rPr lang="en" sz="1600">
                <a:solidFill>
                  <a:srgbClr val="5E5A78"/>
                </a:solidFill>
                <a:latin typeface="Montserrat"/>
                <a:ea typeface="Montserrat"/>
                <a:cs typeface="Montserrat"/>
                <a:sym typeface="Montserrat"/>
              </a:rPr>
              <a:t>Store Type &amp; Geography</a:t>
            </a:r>
            <a:endParaRPr sz="1600">
              <a:solidFill>
                <a:srgbClr val="5E5A78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rgbClr val="58527B"/>
              </a:buClr>
              <a:buSzPts val="1400"/>
              <a:buFont typeface="Montserrat"/>
              <a:buChar char="●"/>
            </a:pPr>
            <a:r>
              <a:rPr lang="en" sz="1600">
                <a:solidFill>
                  <a:srgbClr val="5E5A78"/>
                </a:solidFill>
                <a:latin typeface="Montserrat"/>
                <a:ea typeface="Montserrat"/>
                <a:cs typeface="Montserrat"/>
                <a:sym typeface="Montserrat"/>
              </a:rPr>
              <a:t>Customer Demographics</a:t>
            </a:r>
            <a:endParaRPr sz="1600">
              <a:solidFill>
                <a:srgbClr val="5E5A78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rgbClr val="58527B"/>
              </a:buClr>
              <a:buSzPts val="1400"/>
              <a:buFont typeface="Montserrat"/>
              <a:buChar char="●"/>
            </a:pPr>
            <a:r>
              <a:rPr lang="en" sz="1600">
                <a:solidFill>
                  <a:srgbClr val="5E5A78"/>
                </a:solidFill>
                <a:latin typeface="Montserrat"/>
                <a:ea typeface="Montserrat"/>
                <a:cs typeface="Montserrat"/>
                <a:sym typeface="Montserrat"/>
              </a:rPr>
              <a:t>Returns, Cost, and Price Adjustments</a:t>
            </a:r>
            <a:endParaRPr sz="1600">
              <a:solidFill>
                <a:srgbClr val="5E5A78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b="1" sz="11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DDDEDF"/>
        </a:solidFill>
      </p:bgPr>
    </p:bg>
    <p:spTree>
      <p:nvGrpSpPr>
        <p:cNvPr id="7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p16"/>
          <p:cNvSpPr txBox="1"/>
          <p:nvPr>
            <p:ph type="title"/>
          </p:nvPr>
        </p:nvSpPr>
        <p:spPr>
          <a:xfrm>
            <a:off x="311700" y="24450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SzPts val="990"/>
              <a:buNone/>
            </a:pPr>
            <a:r>
              <a:rPr b="1" lang="en" sz="2820">
                <a:solidFill>
                  <a:srgbClr val="4A4566"/>
                </a:solidFill>
                <a:latin typeface="Montserrat"/>
                <a:ea typeface="Montserrat"/>
                <a:cs typeface="Montserrat"/>
                <a:sym typeface="Montserrat"/>
              </a:rPr>
              <a:t>Methodology</a:t>
            </a:r>
            <a:endParaRPr b="1" sz="2460">
              <a:solidFill>
                <a:srgbClr val="5E5A78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73" name="Google Shape;73;p16"/>
          <p:cNvSpPr txBox="1"/>
          <p:nvPr>
            <p:ph idx="1" type="body"/>
          </p:nvPr>
        </p:nvSpPr>
        <p:spPr>
          <a:xfrm>
            <a:off x="311700" y="917350"/>
            <a:ext cx="8832300" cy="422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77500" lnSpcReduction="20000"/>
          </a:bodyPr>
          <a:lstStyle/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ct val="41448"/>
              <a:buFont typeface="Arial"/>
              <a:buNone/>
            </a:pPr>
            <a:r>
              <a:rPr lang="en" sz="2653">
                <a:solidFill>
                  <a:srgbClr val="5E5A78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Data Preparation &amp; Tools</a:t>
            </a:r>
            <a:endParaRPr sz="2653">
              <a:solidFill>
                <a:srgbClr val="5E5A78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  <a:p>
            <a:pPr indent="-322103" lvl="0" marL="45720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ct val="100000"/>
              <a:buChar char="●"/>
            </a:pPr>
            <a:r>
              <a:rPr lang="en" sz="1900">
                <a:solidFill>
                  <a:srgbClr val="18A0A9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Jupyter Notebook</a:t>
            </a:r>
            <a:endParaRPr b="1" sz="19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729">
                <a:solidFill>
                  <a:srgbClr val="5E5A78"/>
                </a:solidFill>
                <a:latin typeface="Montserrat"/>
                <a:ea typeface="Montserrat"/>
                <a:cs typeface="Montserrat"/>
                <a:sym typeface="Montserrat"/>
              </a:rPr>
              <a:t>Used only to convert </a:t>
            </a:r>
            <a:r>
              <a:rPr lang="en" sz="1729">
                <a:solidFill>
                  <a:srgbClr val="18A0A9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Date field from object to datetime</a:t>
            </a:r>
            <a:endParaRPr b="1" sz="1729">
              <a:solidFill>
                <a:schemeClr val="dk1"/>
              </a:solidFill>
            </a:endParaRPr>
          </a:p>
          <a:p>
            <a:pPr indent="-324986" lvl="0" marL="45720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ct val="100000"/>
              <a:buChar char="●"/>
            </a:pPr>
            <a:r>
              <a:rPr lang="en" sz="1958">
                <a:solidFill>
                  <a:srgbClr val="18A0A9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Power BI</a:t>
            </a:r>
            <a:endParaRPr b="1" sz="1958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729">
                <a:solidFill>
                  <a:srgbClr val="5E5A78"/>
                </a:solidFill>
                <a:latin typeface="Montserrat"/>
                <a:ea typeface="Montserrat"/>
                <a:cs typeface="Montserrat"/>
                <a:sym typeface="Montserrat"/>
              </a:rPr>
              <a:t>Data cleaning and transformation</a:t>
            </a:r>
            <a:endParaRPr sz="1729">
              <a:solidFill>
                <a:srgbClr val="5E5A78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313689" lvl="1" marL="91440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ct val="100000"/>
              <a:buChar char="○"/>
            </a:pPr>
            <a:r>
              <a:rPr lang="en" sz="1729">
                <a:solidFill>
                  <a:srgbClr val="5E5A78"/>
                </a:solidFill>
                <a:latin typeface="Montserrat"/>
                <a:ea typeface="Montserrat"/>
                <a:cs typeface="Montserrat"/>
                <a:sym typeface="Montserrat"/>
              </a:rPr>
              <a:t>Data modeling and relationships</a:t>
            </a:r>
            <a:endParaRPr sz="1729">
              <a:solidFill>
                <a:srgbClr val="5E5A78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313689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Char char="○"/>
            </a:pPr>
            <a:r>
              <a:rPr lang="en" sz="1729">
                <a:solidFill>
                  <a:srgbClr val="5E5A78"/>
                </a:solidFill>
                <a:latin typeface="Montserrat"/>
                <a:ea typeface="Montserrat"/>
                <a:cs typeface="Montserrat"/>
                <a:sym typeface="Montserrat"/>
              </a:rPr>
              <a:t>Measure and KPI creation</a:t>
            </a:r>
            <a:endParaRPr sz="1729">
              <a:solidFill>
                <a:srgbClr val="5E5A78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313689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Char char="○"/>
            </a:pPr>
            <a:r>
              <a:rPr lang="en" sz="1729">
                <a:solidFill>
                  <a:srgbClr val="5E5A78"/>
                </a:solidFill>
                <a:latin typeface="Montserrat"/>
                <a:ea typeface="Montserrat"/>
                <a:cs typeface="Montserrat"/>
                <a:sym typeface="Montserrat"/>
              </a:rPr>
              <a:t>Dashboard and visual development</a:t>
            </a:r>
            <a:endParaRPr sz="1729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ct val="50928"/>
              <a:buFont typeface="Arial"/>
              <a:buNone/>
            </a:pPr>
            <a:r>
              <a:rPr b="1" lang="en" sz="2159">
                <a:solidFill>
                  <a:srgbClr val="5E5A78"/>
                </a:solidFill>
              </a:rPr>
              <a:t>Visuals Used</a:t>
            </a:r>
            <a:endParaRPr b="1" sz="2159">
              <a:solidFill>
                <a:srgbClr val="5E5A78"/>
              </a:solidFill>
            </a:endParaRPr>
          </a:p>
          <a:p>
            <a:pPr indent="-313689" lvl="1" marL="914400" marR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ct val="100000"/>
              <a:buChar char="○"/>
            </a:pPr>
            <a:r>
              <a:rPr lang="en" sz="1729">
                <a:solidFill>
                  <a:srgbClr val="5E5A78"/>
                </a:solidFill>
                <a:latin typeface="Montserrat"/>
                <a:ea typeface="Montserrat"/>
                <a:cs typeface="Montserrat"/>
                <a:sym typeface="Montserrat"/>
              </a:rPr>
              <a:t>Line, Bar, Column, Scatter, Matrix</a:t>
            </a:r>
            <a:endParaRPr sz="1729">
              <a:solidFill>
                <a:srgbClr val="5E5A78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313689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Char char="○"/>
            </a:pPr>
            <a:r>
              <a:rPr lang="en" sz="1729">
                <a:solidFill>
                  <a:srgbClr val="5E5A78"/>
                </a:solidFill>
                <a:latin typeface="Montserrat"/>
                <a:ea typeface="Montserrat"/>
                <a:cs typeface="Montserrat"/>
                <a:sym typeface="Montserrat"/>
              </a:rPr>
              <a:t>KPI Cards and Slicers</a:t>
            </a:r>
            <a:endParaRPr sz="1729">
              <a:solidFill>
                <a:srgbClr val="5E5A78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b="1" sz="11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b="1" sz="11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DDDEDF"/>
        </a:solidFill>
      </p:bgPr>
    </p:bg>
    <p:spTree>
      <p:nvGrpSpPr>
        <p:cNvPr id="77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p17"/>
          <p:cNvSpPr txBox="1"/>
          <p:nvPr>
            <p:ph type="title"/>
          </p:nvPr>
        </p:nvSpPr>
        <p:spPr>
          <a:xfrm>
            <a:off x="311700" y="14825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3153">
                <a:solidFill>
                  <a:srgbClr val="4A4566"/>
                </a:solidFill>
                <a:latin typeface="Montserrat"/>
                <a:ea typeface="Montserrat"/>
                <a:cs typeface="Montserrat"/>
                <a:sym typeface="Montserrat"/>
              </a:rPr>
              <a:t>Key Metrics</a:t>
            </a:r>
            <a:r>
              <a:rPr lang="en" sz="2820">
                <a:solidFill>
                  <a:srgbClr val="4A4566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 </a:t>
            </a:r>
            <a:endParaRPr sz="2820">
              <a:solidFill>
                <a:srgbClr val="4A4566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</p:txBody>
      </p:sp>
      <p:sp>
        <p:nvSpPr>
          <p:cNvPr id="79" name="Google Shape;79;p17"/>
          <p:cNvSpPr txBox="1"/>
          <p:nvPr>
            <p:ph idx="1" type="body"/>
          </p:nvPr>
        </p:nvSpPr>
        <p:spPr>
          <a:xfrm>
            <a:off x="311700" y="4101450"/>
            <a:ext cx="8832300" cy="890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25000"/>
          </a:bodyPr>
          <a:lstStyle/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Clr>
                <a:schemeClr val="dk1"/>
              </a:buClr>
              <a:buSzPts val="275"/>
              <a:buFont typeface="Arial"/>
              <a:buNone/>
            </a:pPr>
            <a:r>
              <a:rPr lang="en" sz="7200">
                <a:solidFill>
                  <a:srgbClr val="58527B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Insight:</a:t>
            </a:r>
            <a:br>
              <a:rPr lang="en" sz="60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</a:br>
            <a:r>
              <a:rPr lang="en" sz="60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  <a:r>
              <a:rPr lang="en" sz="6000">
                <a:solidFill>
                  <a:srgbClr val="5E5A78"/>
                </a:solidFill>
                <a:latin typeface="Montserrat"/>
                <a:ea typeface="Montserrat"/>
                <a:cs typeface="Montserrat"/>
                <a:sym typeface="Montserrat"/>
              </a:rPr>
              <a:t>High margins and strong transaction volume indicate a healthy, scalable business model.</a:t>
            </a:r>
            <a:endParaRPr b="1" sz="1100">
              <a:solidFill>
                <a:schemeClr val="dk1"/>
              </a:solidFill>
            </a:endParaRPr>
          </a:p>
        </p:txBody>
      </p:sp>
      <p:pic>
        <p:nvPicPr>
          <p:cNvPr id="80" name="Google Shape;80;p1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91900" y="1282475"/>
            <a:ext cx="1851300" cy="1181100"/>
          </a:xfrm>
          <a:prstGeom prst="roundRect">
            <a:avLst>
              <a:gd fmla="val 15602" name="adj"/>
            </a:avLst>
          </a:prstGeom>
          <a:noFill/>
          <a:ln>
            <a:noFill/>
          </a:ln>
        </p:spPr>
      </p:pic>
      <p:sp>
        <p:nvSpPr>
          <p:cNvPr id="81" name="Google Shape;81;p17"/>
          <p:cNvSpPr txBox="1"/>
          <p:nvPr/>
        </p:nvSpPr>
        <p:spPr>
          <a:xfrm>
            <a:off x="311750" y="808475"/>
            <a:ext cx="8832300" cy="47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800">
                <a:solidFill>
                  <a:srgbClr val="58527B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Overall Performance KPIs</a:t>
            </a:r>
            <a:endParaRPr sz="1800">
              <a:solidFill>
                <a:srgbClr val="58527B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</p:txBody>
      </p:sp>
      <p:pic>
        <p:nvPicPr>
          <p:cNvPr id="82" name="Google Shape;82;p17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522850" y="1263425"/>
            <a:ext cx="1851300" cy="1219200"/>
          </a:xfrm>
          <a:prstGeom prst="roundRect">
            <a:avLst>
              <a:gd fmla="val 14243" name="adj"/>
            </a:avLst>
          </a:prstGeom>
          <a:noFill/>
          <a:ln>
            <a:noFill/>
          </a:ln>
        </p:spPr>
      </p:pic>
      <p:pic>
        <p:nvPicPr>
          <p:cNvPr id="83" name="Google Shape;83;p17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91900" y="2806475"/>
            <a:ext cx="1851300" cy="1142700"/>
          </a:xfrm>
          <a:prstGeom prst="roundRect">
            <a:avLst>
              <a:gd fmla="val 15229" name="adj"/>
            </a:avLst>
          </a:prstGeom>
          <a:noFill/>
          <a:ln>
            <a:noFill/>
          </a:ln>
        </p:spPr>
      </p:pic>
      <p:pic>
        <p:nvPicPr>
          <p:cNvPr id="84" name="Google Shape;84;p17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4553800" y="1274938"/>
            <a:ext cx="1851300" cy="1200000"/>
          </a:xfrm>
          <a:prstGeom prst="roundRect">
            <a:avLst>
              <a:gd fmla="val 13565" name="adj"/>
            </a:avLst>
          </a:prstGeom>
          <a:noFill/>
          <a:ln>
            <a:noFill/>
          </a:ln>
        </p:spPr>
      </p:pic>
      <p:pic>
        <p:nvPicPr>
          <p:cNvPr id="85" name="Google Shape;85;p17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2528250" y="2806475"/>
            <a:ext cx="1851300" cy="1142700"/>
          </a:xfrm>
          <a:prstGeom prst="roundRect">
            <a:avLst>
              <a:gd fmla="val 14693" name="adj"/>
            </a:avLst>
          </a:prstGeom>
          <a:noFill/>
          <a:ln>
            <a:noFill/>
          </a:ln>
        </p:spPr>
      </p:pic>
      <p:pic>
        <p:nvPicPr>
          <p:cNvPr id="86" name="Google Shape;86;p17"/>
          <p:cNvPicPr preferRelativeResize="0"/>
          <p:nvPr/>
        </p:nvPicPr>
        <p:blipFill rotWithShape="1">
          <a:blip r:embed="rId8">
            <a:alphaModFix/>
          </a:blip>
          <a:srcRect b="0" l="0" r="14456" t="0"/>
          <a:stretch/>
        </p:blipFill>
        <p:spPr>
          <a:xfrm>
            <a:off x="4564599" y="2806475"/>
            <a:ext cx="1829700" cy="1142700"/>
          </a:xfrm>
          <a:prstGeom prst="roundRect">
            <a:avLst>
              <a:gd fmla="val 14678" name="adj"/>
            </a:avLst>
          </a:prstGeom>
          <a:noFill/>
          <a:ln>
            <a:noFill/>
          </a:ln>
        </p:spPr>
      </p:pic>
      <p:pic>
        <p:nvPicPr>
          <p:cNvPr id="87" name="Google Shape;87;p17"/>
          <p:cNvPicPr preferRelativeResize="0"/>
          <p:nvPr/>
        </p:nvPicPr>
        <p:blipFill>
          <a:blip r:embed="rId9">
            <a:alphaModFix/>
          </a:blip>
          <a:stretch>
            <a:fillRect/>
          </a:stretch>
        </p:blipFill>
        <p:spPr>
          <a:xfrm>
            <a:off x="6579350" y="2845163"/>
            <a:ext cx="1851300" cy="1065300"/>
          </a:xfrm>
          <a:prstGeom prst="roundRect">
            <a:avLst>
              <a:gd fmla="val 14940" name="adj"/>
            </a:avLst>
          </a:prstGeom>
          <a:noFill/>
          <a:ln>
            <a:noFill/>
          </a:ln>
        </p:spPr>
      </p:pic>
      <p:pic>
        <p:nvPicPr>
          <p:cNvPr id="88" name="Google Shape;88;p17"/>
          <p:cNvPicPr preferRelativeResize="0"/>
          <p:nvPr/>
        </p:nvPicPr>
        <p:blipFill>
          <a:blip r:embed="rId10">
            <a:alphaModFix/>
          </a:blip>
          <a:stretch>
            <a:fillRect/>
          </a:stretch>
        </p:blipFill>
        <p:spPr>
          <a:xfrm>
            <a:off x="6584750" y="1282475"/>
            <a:ext cx="1851300" cy="1181100"/>
          </a:xfrm>
          <a:prstGeom prst="roundRect">
            <a:avLst>
              <a:gd fmla="val 14345" name="adj"/>
            </a:avLst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DDDEDF"/>
        </a:solidFill>
      </p:bgPr>
    </p:bg>
    <p:spTree>
      <p:nvGrpSpPr>
        <p:cNvPr id="92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18"/>
          <p:cNvSpPr txBox="1"/>
          <p:nvPr>
            <p:ph type="title"/>
          </p:nvPr>
        </p:nvSpPr>
        <p:spPr>
          <a:xfrm>
            <a:off x="311700" y="1906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700">
                <a:solidFill>
                  <a:srgbClr val="4A4566"/>
                </a:solidFill>
                <a:latin typeface="Montserrat"/>
                <a:ea typeface="Montserrat"/>
                <a:cs typeface="Montserrat"/>
                <a:sym typeface="Montserrat"/>
              </a:rPr>
              <a:t>Business Performance Snapshot</a:t>
            </a:r>
            <a:endParaRPr b="1" sz="2700">
              <a:solidFill>
                <a:srgbClr val="4A4566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94" name="Google Shape;94;p18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Clr>
                <a:srgbClr val="58527B"/>
              </a:buClr>
              <a:buSzPts val="2000"/>
              <a:buChar char="●"/>
            </a:pPr>
            <a:r>
              <a:rPr lang="en" sz="2000">
                <a:solidFill>
                  <a:srgbClr val="5E5A78"/>
                </a:solidFill>
                <a:latin typeface="Montserrat"/>
                <a:ea typeface="Montserrat"/>
                <a:cs typeface="Montserrat"/>
                <a:sym typeface="Montserrat"/>
              </a:rPr>
              <a:t>Strong financial performance with</a:t>
            </a:r>
            <a:r>
              <a:rPr lang="en" sz="2000">
                <a:solidFill>
                  <a:srgbClr val="18A0A9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  <a:r>
              <a:rPr lang="en" sz="2000">
                <a:solidFill>
                  <a:srgbClr val="18A0A9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~60% margins</a:t>
            </a:r>
            <a:r>
              <a:rPr lang="en" sz="2000">
                <a:solidFill>
                  <a:srgbClr val="5E5A78"/>
                </a:solidFill>
                <a:latin typeface="Montserrat"/>
                <a:ea typeface="Montserrat"/>
                <a:cs typeface="Montserrat"/>
                <a:sym typeface="Montserrat"/>
              </a:rPr>
              <a:t> and sustained revenue growth</a:t>
            </a:r>
            <a:endParaRPr sz="2000">
              <a:solidFill>
                <a:srgbClr val="5E5A78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Clr>
                <a:srgbClr val="58527B"/>
              </a:buClr>
              <a:buSzPts val="2000"/>
              <a:buChar char="●"/>
            </a:pPr>
            <a:r>
              <a:rPr lang="en" sz="2000">
                <a:solidFill>
                  <a:srgbClr val="18A0A9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1998 marks a growth inflection</a:t>
            </a:r>
            <a:r>
              <a:rPr lang="en" sz="2000">
                <a:solidFill>
                  <a:srgbClr val="5E5A78"/>
                </a:solidFill>
                <a:latin typeface="Montserrat"/>
                <a:ea typeface="Montserrat"/>
                <a:cs typeface="Montserrat"/>
                <a:sym typeface="Montserrat"/>
              </a:rPr>
              <a:t>, with improved target achievement thereafter</a:t>
            </a:r>
            <a:endParaRPr sz="2000">
              <a:solidFill>
                <a:srgbClr val="5E5A78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Clr>
                <a:srgbClr val="58527B"/>
              </a:buClr>
              <a:buSzPts val="2000"/>
              <a:buChar char="●"/>
            </a:pPr>
            <a:r>
              <a:rPr lang="en" sz="2000">
                <a:solidFill>
                  <a:srgbClr val="5E5A78"/>
                </a:solidFill>
                <a:latin typeface="Montserrat"/>
                <a:ea typeface="Montserrat"/>
                <a:cs typeface="Montserrat"/>
                <a:sym typeface="Montserrat"/>
              </a:rPr>
              <a:t>Revenue anchored by</a:t>
            </a:r>
            <a:r>
              <a:rPr lang="en" sz="2000">
                <a:solidFill>
                  <a:srgbClr val="18A0A9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 top brands</a:t>
            </a:r>
            <a:r>
              <a:rPr lang="en" sz="2000">
                <a:solidFill>
                  <a:srgbClr val="5E5A78"/>
                </a:solidFill>
                <a:latin typeface="Montserrat"/>
                <a:ea typeface="Montserrat"/>
                <a:cs typeface="Montserrat"/>
                <a:sym typeface="Montserrat"/>
              </a:rPr>
              <a:t>, yet </a:t>
            </a:r>
            <a:r>
              <a:rPr lang="en" sz="2000">
                <a:solidFill>
                  <a:srgbClr val="18A0A9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well diversified</a:t>
            </a:r>
            <a:r>
              <a:rPr lang="en" sz="2000">
                <a:solidFill>
                  <a:srgbClr val="5E5A78"/>
                </a:solidFill>
                <a:latin typeface="Montserrat"/>
                <a:ea typeface="Montserrat"/>
                <a:cs typeface="Montserrat"/>
                <a:sym typeface="Montserrat"/>
              </a:rPr>
              <a:t> overall</a:t>
            </a:r>
            <a:endParaRPr sz="2000">
              <a:solidFill>
                <a:srgbClr val="5E5A78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Clr>
                <a:srgbClr val="58527B"/>
              </a:buClr>
              <a:buSzPts val="2000"/>
              <a:buChar char="●"/>
            </a:pPr>
            <a:r>
              <a:rPr lang="en" sz="2000">
                <a:solidFill>
                  <a:srgbClr val="18A0A9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Large-format stores</a:t>
            </a:r>
            <a:r>
              <a:rPr lang="en" sz="2000">
                <a:solidFill>
                  <a:srgbClr val="18A0A9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  <a:r>
              <a:rPr lang="en" sz="2000">
                <a:solidFill>
                  <a:srgbClr val="5E5A78"/>
                </a:solidFill>
                <a:latin typeface="Montserrat"/>
                <a:ea typeface="Montserrat"/>
                <a:cs typeface="Montserrat"/>
                <a:sym typeface="Montserrat"/>
              </a:rPr>
              <a:t>(</a:t>
            </a:r>
            <a:r>
              <a:rPr lang="en" sz="2000">
                <a:solidFill>
                  <a:srgbClr val="18A0A9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Supermarket</a:t>
            </a:r>
            <a:r>
              <a:rPr lang="en" sz="2000">
                <a:solidFill>
                  <a:srgbClr val="5E5A78"/>
                </a:solidFill>
                <a:latin typeface="Montserrat"/>
                <a:ea typeface="Montserrat"/>
                <a:cs typeface="Montserrat"/>
                <a:sym typeface="Montserrat"/>
              </a:rPr>
              <a:t>,</a:t>
            </a:r>
            <a:r>
              <a:rPr lang="en" sz="2000">
                <a:solidFill>
                  <a:srgbClr val="18A0A9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 Deluxe</a:t>
            </a:r>
            <a:r>
              <a:rPr lang="en" sz="2000">
                <a:solidFill>
                  <a:srgbClr val="5E5A78"/>
                </a:solidFill>
                <a:latin typeface="Montserrat"/>
                <a:ea typeface="Montserrat"/>
                <a:cs typeface="Montserrat"/>
                <a:sym typeface="Montserrat"/>
              </a:rPr>
              <a:t>) drive scale with </a:t>
            </a:r>
            <a:r>
              <a:rPr lang="en" sz="2000">
                <a:solidFill>
                  <a:srgbClr val="18A0A9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consistent margins</a:t>
            </a:r>
            <a:endParaRPr sz="2000">
              <a:solidFill>
                <a:srgbClr val="18A0A9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Clr>
                <a:srgbClr val="58527B"/>
              </a:buClr>
              <a:buSzPts val="2000"/>
              <a:buChar char="●"/>
            </a:pPr>
            <a:r>
              <a:rPr lang="en" sz="2000">
                <a:solidFill>
                  <a:srgbClr val="5E5A78"/>
                </a:solidFill>
                <a:latin typeface="Montserrat"/>
                <a:ea typeface="Montserrat"/>
                <a:cs typeface="Montserrat"/>
                <a:sym typeface="Montserrat"/>
              </a:rPr>
              <a:t>Profit growth is </a:t>
            </a:r>
            <a:r>
              <a:rPr lang="en" sz="2000">
                <a:solidFill>
                  <a:srgbClr val="18A0A9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volume-led</a:t>
            </a:r>
            <a:r>
              <a:rPr lang="en" sz="2000">
                <a:solidFill>
                  <a:srgbClr val="5E5A78"/>
                </a:solidFill>
                <a:latin typeface="Montserrat"/>
                <a:ea typeface="Montserrat"/>
                <a:cs typeface="Montserrat"/>
                <a:sym typeface="Montserrat"/>
              </a:rPr>
              <a:t>,</a:t>
            </a:r>
            <a:r>
              <a:rPr lang="en" sz="2000">
                <a:solidFill>
                  <a:srgbClr val="18A0A9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 not margin-driven</a:t>
            </a:r>
            <a:endParaRPr sz="2000">
              <a:solidFill>
                <a:srgbClr val="18A0A9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DDDEDF"/>
        </a:solidFill>
      </p:bgPr>
    </p:bg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p19"/>
          <p:cNvSpPr txBox="1"/>
          <p:nvPr>
            <p:ph type="title"/>
          </p:nvPr>
        </p:nvSpPr>
        <p:spPr>
          <a:xfrm>
            <a:off x="311700" y="43090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4A4566"/>
                </a:solidFill>
                <a:latin typeface="Montserrat"/>
                <a:ea typeface="Montserrat"/>
                <a:cs typeface="Montserrat"/>
                <a:sym typeface="Montserrat"/>
              </a:rPr>
              <a:t>Performance Drivers &amp; Trends</a:t>
            </a:r>
            <a:endParaRPr b="1">
              <a:solidFill>
                <a:srgbClr val="4A4566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100" name="Google Shape;100;p1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11700" y="1365850"/>
            <a:ext cx="4042500" cy="2749800"/>
          </a:xfrm>
          <a:prstGeom prst="roundRect">
            <a:avLst>
              <a:gd fmla="val 6143" name="adj"/>
            </a:avLst>
          </a:prstGeom>
          <a:noFill/>
          <a:ln>
            <a:noFill/>
          </a:ln>
        </p:spPr>
      </p:pic>
      <p:pic>
        <p:nvPicPr>
          <p:cNvPr id="101" name="Google Shape;101;p1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919625" y="1365850"/>
            <a:ext cx="3912600" cy="2749800"/>
          </a:xfrm>
          <a:prstGeom prst="roundRect">
            <a:avLst>
              <a:gd fmla="val 5688" name="adj"/>
            </a:avLst>
          </a:prstGeom>
          <a:noFill/>
          <a:ln>
            <a:noFill/>
          </a:ln>
        </p:spPr>
      </p:pic>
      <p:sp>
        <p:nvSpPr>
          <p:cNvPr id="102" name="Google Shape;102;p19"/>
          <p:cNvSpPr txBox="1"/>
          <p:nvPr/>
        </p:nvSpPr>
        <p:spPr>
          <a:xfrm>
            <a:off x="354700" y="4256900"/>
            <a:ext cx="3999600" cy="777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Clr>
                <a:srgbClr val="58527B"/>
              </a:buClr>
              <a:buSzPts val="1600"/>
              <a:buFont typeface="Montserrat"/>
              <a:buChar char="●"/>
            </a:pPr>
            <a:r>
              <a:rPr lang="en" sz="1600">
                <a:solidFill>
                  <a:srgbClr val="5E5A78"/>
                </a:solidFill>
                <a:latin typeface="Montserrat"/>
                <a:ea typeface="Montserrat"/>
                <a:cs typeface="Montserrat"/>
                <a:sym typeface="Montserrat"/>
              </a:rPr>
              <a:t>Revenue growth accelerates from early 1998</a:t>
            </a:r>
            <a:endParaRPr sz="1600">
              <a:solidFill>
                <a:srgbClr val="5E5A78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03" name="Google Shape;103;p19"/>
          <p:cNvSpPr txBox="1"/>
          <p:nvPr/>
        </p:nvSpPr>
        <p:spPr>
          <a:xfrm>
            <a:off x="5032675" y="4256800"/>
            <a:ext cx="3799500" cy="777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Clr>
                <a:srgbClr val="58527B"/>
              </a:buClr>
              <a:buSzPts val="1600"/>
              <a:buFont typeface="Montserrat"/>
              <a:buChar char="●"/>
            </a:pPr>
            <a:r>
              <a:rPr lang="en" sz="1600">
                <a:solidFill>
                  <a:srgbClr val="5E5A78"/>
                </a:solidFill>
                <a:latin typeface="Montserrat"/>
                <a:ea typeface="Montserrat"/>
                <a:cs typeface="Montserrat"/>
                <a:sym typeface="Montserrat"/>
              </a:rPr>
              <a:t>Profit growth driven by volume, not margin expansion.</a:t>
            </a:r>
            <a:endParaRPr sz="1600">
              <a:solidFill>
                <a:schemeClr val="dk2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DDDEDF"/>
        </a:solidFill>
      </p:bgPr>
    </p:bg>
    <p:spTree>
      <p:nvGrpSpPr>
        <p:cNvPr id="107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p20"/>
          <p:cNvSpPr txBox="1"/>
          <p:nvPr>
            <p:ph type="title"/>
          </p:nvPr>
        </p:nvSpPr>
        <p:spPr>
          <a:xfrm>
            <a:off x="311700" y="18505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4A4566"/>
                </a:solidFill>
                <a:latin typeface="Montserrat"/>
                <a:ea typeface="Montserrat"/>
                <a:cs typeface="Montserrat"/>
                <a:sym typeface="Montserrat"/>
              </a:rPr>
              <a:t>Sales Performance Analysis</a:t>
            </a:r>
            <a:endParaRPr b="1">
              <a:solidFill>
                <a:srgbClr val="4A4566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09" name="Google Shape;109;p20"/>
          <p:cNvSpPr txBox="1"/>
          <p:nvPr>
            <p:ph idx="1" type="body"/>
          </p:nvPr>
        </p:nvSpPr>
        <p:spPr>
          <a:xfrm>
            <a:off x="311700" y="974350"/>
            <a:ext cx="8520600" cy="4169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Clr>
                <a:srgbClr val="58527B"/>
              </a:buClr>
              <a:buSzPts val="2000"/>
              <a:buChar char="●"/>
            </a:pPr>
            <a:r>
              <a:rPr lang="en" sz="2000">
                <a:solidFill>
                  <a:srgbClr val="5E5A78"/>
                </a:solidFill>
                <a:latin typeface="Montserrat"/>
                <a:ea typeface="Montserrat"/>
                <a:cs typeface="Montserrat"/>
                <a:sym typeface="Montserrat"/>
              </a:rPr>
              <a:t>Transaction growth is</a:t>
            </a:r>
            <a:r>
              <a:rPr lang="en" sz="2000">
                <a:solidFill>
                  <a:schemeClr val="dk1"/>
                </a:solidFill>
              </a:rPr>
              <a:t> </a:t>
            </a:r>
            <a:r>
              <a:rPr lang="en" sz="2000">
                <a:solidFill>
                  <a:srgbClr val="18A0A9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steady and increasingly predictable</a:t>
            </a:r>
            <a:r>
              <a:rPr lang="en" sz="2000">
                <a:solidFill>
                  <a:srgbClr val="5E5A78"/>
                </a:solidFill>
                <a:latin typeface="Montserrat"/>
                <a:ea typeface="Montserrat"/>
                <a:cs typeface="Montserrat"/>
                <a:sym typeface="Montserrat"/>
              </a:rPr>
              <a:t>, particularly in</a:t>
            </a:r>
            <a:r>
              <a:rPr lang="en" sz="2000">
                <a:solidFill>
                  <a:schemeClr val="dk1"/>
                </a:solidFill>
              </a:rPr>
              <a:t> </a:t>
            </a:r>
            <a:r>
              <a:rPr lang="en" sz="2000">
                <a:solidFill>
                  <a:srgbClr val="18A0A9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1998</a:t>
            </a:r>
            <a:endParaRPr b="1" sz="2000">
              <a:solidFill>
                <a:schemeClr val="dk1"/>
              </a:solidFill>
            </a:endParaRPr>
          </a:p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Clr>
                <a:srgbClr val="58527B"/>
              </a:buClr>
              <a:buSzPts val="2000"/>
              <a:buChar char="●"/>
            </a:pPr>
            <a:r>
              <a:rPr lang="en" sz="2000">
                <a:solidFill>
                  <a:srgbClr val="5E5A78"/>
                </a:solidFill>
                <a:latin typeface="Montserrat"/>
                <a:ea typeface="Montserrat"/>
                <a:cs typeface="Montserrat"/>
                <a:sym typeface="Montserrat"/>
              </a:rPr>
              <a:t>Demand is</a:t>
            </a:r>
            <a:r>
              <a:rPr lang="en" sz="2000">
                <a:solidFill>
                  <a:schemeClr val="dk1"/>
                </a:solidFill>
              </a:rPr>
              <a:t> </a:t>
            </a:r>
            <a:r>
              <a:rPr lang="en" sz="2000">
                <a:solidFill>
                  <a:srgbClr val="18A0A9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well distributed across top products</a:t>
            </a:r>
            <a:r>
              <a:rPr lang="en" sz="2000">
                <a:solidFill>
                  <a:srgbClr val="5E5A78"/>
                </a:solidFill>
                <a:latin typeface="Montserrat"/>
                <a:ea typeface="Montserrat"/>
                <a:cs typeface="Montserrat"/>
                <a:sym typeface="Montserrat"/>
              </a:rPr>
              <a:t>, reducing</a:t>
            </a:r>
            <a:r>
              <a:rPr lang="en" sz="2000">
                <a:solidFill>
                  <a:srgbClr val="18A0A9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 SKU dependency risk</a:t>
            </a:r>
            <a:endParaRPr b="1" sz="2000">
              <a:solidFill>
                <a:schemeClr val="dk1"/>
              </a:solidFill>
            </a:endParaRPr>
          </a:p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Clr>
                <a:srgbClr val="58527B"/>
              </a:buClr>
              <a:buSzPts val="2000"/>
              <a:buChar char="●"/>
            </a:pPr>
            <a:r>
              <a:rPr lang="en" sz="2000">
                <a:solidFill>
                  <a:srgbClr val="18A0A9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Salem and Tacoma</a:t>
            </a:r>
            <a:r>
              <a:rPr lang="en" sz="2000">
                <a:solidFill>
                  <a:schemeClr val="dk1"/>
                </a:solidFill>
              </a:rPr>
              <a:t> </a:t>
            </a:r>
            <a:r>
              <a:rPr lang="en" sz="2000">
                <a:solidFill>
                  <a:srgbClr val="5E5A78"/>
                </a:solidFill>
                <a:latin typeface="Montserrat"/>
                <a:ea typeface="Montserrat"/>
                <a:cs typeface="Montserrat"/>
                <a:sym typeface="Montserrat"/>
              </a:rPr>
              <a:t>outperform peers;</a:t>
            </a:r>
            <a:r>
              <a:rPr lang="en" sz="2000">
                <a:solidFill>
                  <a:schemeClr val="dk1"/>
                </a:solidFill>
              </a:rPr>
              <a:t> </a:t>
            </a:r>
            <a:r>
              <a:rPr lang="en" sz="2000">
                <a:solidFill>
                  <a:srgbClr val="18A0A9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execution outweighs city size</a:t>
            </a:r>
            <a:endParaRPr b="1" sz="2000">
              <a:solidFill>
                <a:schemeClr val="dk1"/>
              </a:solidFill>
            </a:endParaRPr>
          </a:p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Clr>
                <a:srgbClr val="58527B"/>
              </a:buClr>
              <a:buSzPts val="2000"/>
              <a:buChar char="●"/>
            </a:pPr>
            <a:r>
              <a:rPr lang="en" sz="2000">
                <a:solidFill>
                  <a:srgbClr val="5E5A78"/>
                </a:solidFill>
                <a:latin typeface="Montserrat"/>
                <a:ea typeface="Montserrat"/>
                <a:cs typeface="Montserrat"/>
                <a:sym typeface="Montserrat"/>
              </a:rPr>
              <a:t>Revenue is</a:t>
            </a:r>
            <a:r>
              <a:rPr lang="en" sz="2000">
                <a:solidFill>
                  <a:srgbClr val="18A0A9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 concentrated in large store formats</a:t>
            </a:r>
            <a:r>
              <a:rPr lang="en" sz="2000">
                <a:solidFill>
                  <a:srgbClr val="5E5A78"/>
                </a:solidFill>
                <a:latin typeface="Montserrat"/>
                <a:ea typeface="Montserrat"/>
                <a:cs typeface="Montserrat"/>
                <a:sym typeface="Montserrat"/>
              </a:rPr>
              <a:t>; smaller formats play</a:t>
            </a:r>
            <a:r>
              <a:rPr lang="en" sz="2000">
                <a:solidFill>
                  <a:schemeClr val="dk1"/>
                </a:solidFill>
              </a:rPr>
              <a:t> </a:t>
            </a:r>
            <a:r>
              <a:rPr lang="en" sz="2000">
                <a:solidFill>
                  <a:srgbClr val="18A0A9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targeted niche roles</a:t>
            </a:r>
            <a:endParaRPr b="1" sz="2000">
              <a:solidFill>
                <a:schemeClr val="dk1"/>
              </a:solidFill>
            </a:endParaRPr>
          </a:p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Clr>
                <a:srgbClr val="58527B"/>
              </a:buClr>
              <a:buSzPts val="2000"/>
              <a:buChar char="●"/>
            </a:pPr>
            <a:r>
              <a:rPr lang="en" sz="2000">
                <a:solidFill>
                  <a:srgbClr val="18A0A9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Thursdays are peak transaction days</a:t>
            </a:r>
            <a:r>
              <a:rPr lang="en" sz="2000">
                <a:solidFill>
                  <a:srgbClr val="5E5A78"/>
                </a:solidFill>
                <a:latin typeface="Montserrat"/>
                <a:ea typeface="Montserrat"/>
                <a:cs typeface="Montserrat"/>
                <a:sym typeface="Montserrat"/>
              </a:rPr>
              <a:t>, creating clear optimization opportunities</a:t>
            </a:r>
            <a:endParaRPr sz="20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DDDEDF"/>
        </a:solidFill>
      </p:bgPr>
    </p:bg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21"/>
          <p:cNvSpPr txBox="1"/>
          <p:nvPr>
            <p:ph type="title"/>
          </p:nvPr>
        </p:nvSpPr>
        <p:spPr>
          <a:xfrm>
            <a:off x="311700" y="27550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4A4566"/>
                </a:solidFill>
                <a:latin typeface="Montserrat"/>
                <a:ea typeface="Montserrat"/>
                <a:cs typeface="Montserrat"/>
                <a:sym typeface="Montserrat"/>
              </a:rPr>
              <a:t>Sales Drivers &amp; Optimization Opportunities</a:t>
            </a:r>
            <a:endParaRPr b="1">
              <a:solidFill>
                <a:srgbClr val="4A4566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115" name="Google Shape;115;p2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64500" y="1366800"/>
            <a:ext cx="3662100" cy="2727300"/>
          </a:xfrm>
          <a:prstGeom prst="roundRect">
            <a:avLst>
              <a:gd fmla="val 5388" name="adj"/>
            </a:avLst>
          </a:prstGeom>
          <a:noFill/>
          <a:ln>
            <a:noFill/>
          </a:ln>
        </p:spPr>
      </p:pic>
      <p:pic>
        <p:nvPicPr>
          <p:cNvPr id="116" name="Google Shape;116;p2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782200" y="1366800"/>
            <a:ext cx="3899400" cy="2727300"/>
          </a:xfrm>
          <a:prstGeom prst="roundRect">
            <a:avLst>
              <a:gd fmla="val 5387" name="adj"/>
            </a:avLst>
          </a:prstGeom>
          <a:noFill/>
          <a:ln>
            <a:noFill/>
          </a:ln>
        </p:spPr>
      </p:pic>
      <p:sp>
        <p:nvSpPr>
          <p:cNvPr id="117" name="Google Shape;117;p21"/>
          <p:cNvSpPr txBox="1"/>
          <p:nvPr/>
        </p:nvSpPr>
        <p:spPr>
          <a:xfrm>
            <a:off x="464513" y="4166550"/>
            <a:ext cx="3662100" cy="894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36550" lvl="0" marL="457200" rtl="0" algn="l">
              <a:spcBef>
                <a:spcPts val="0"/>
              </a:spcBef>
              <a:spcAft>
                <a:spcPts val="0"/>
              </a:spcAft>
              <a:buClr>
                <a:srgbClr val="58527B"/>
              </a:buClr>
              <a:buSzPts val="1700"/>
              <a:buFont typeface="Montserrat"/>
              <a:buChar char="●"/>
            </a:pPr>
            <a:r>
              <a:rPr lang="en" sz="1700">
                <a:solidFill>
                  <a:srgbClr val="5E5A78"/>
                </a:solidFill>
                <a:latin typeface="Montserrat"/>
                <a:ea typeface="Montserrat"/>
                <a:cs typeface="Montserrat"/>
                <a:sym typeface="Montserrat"/>
              </a:rPr>
              <a:t>Transactions consistently meet or exceed targets.</a:t>
            </a:r>
            <a:endParaRPr sz="1700">
              <a:solidFill>
                <a:srgbClr val="5E5A78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18" name="Google Shape;118;p21"/>
          <p:cNvSpPr txBox="1"/>
          <p:nvPr/>
        </p:nvSpPr>
        <p:spPr>
          <a:xfrm>
            <a:off x="4782200" y="4194000"/>
            <a:ext cx="3899400" cy="839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36550" lvl="0" marL="457200" rtl="0" algn="l">
              <a:spcBef>
                <a:spcPts val="0"/>
              </a:spcBef>
              <a:spcAft>
                <a:spcPts val="0"/>
              </a:spcAft>
              <a:buClr>
                <a:srgbClr val="58527B"/>
              </a:buClr>
              <a:buSzPts val="1700"/>
              <a:buChar char="●"/>
            </a:pPr>
            <a:r>
              <a:rPr lang="en" sz="1700">
                <a:solidFill>
                  <a:srgbClr val="5E5A78"/>
                </a:solidFill>
                <a:latin typeface="Montserrat"/>
                <a:ea typeface="Montserrat"/>
                <a:cs typeface="Montserrat"/>
                <a:sym typeface="Montserrat"/>
              </a:rPr>
              <a:t>Sales demand becomes steady and predictable over time.</a:t>
            </a:r>
            <a:endParaRPr sz="1700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DDDEDF"/>
        </a:solidFill>
      </p:bgPr>
    </p:bg>
    <p:spTree>
      <p:nvGrpSpPr>
        <p:cNvPr id="122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p22"/>
          <p:cNvSpPr txBox="1"/>
          <p:nvPr>
            <p:ph type="title"/>
          </p:nvPr>
        </p:nvSpPr>
        <p:spPr>
          <a:xfrm>
            <a:off x="311700" y="18505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4A4566"/>
                </a:solidFill>
                <a:latin typeface="Montserrat"/>
                <a:ea typeface="Montserrat"/>
                <a:cs typeface="Montserrat"/>
                <a:sym typeface="Montserrat"/>
              </a:rPr>
              <a:t>Customer Analytics</a:t>
            </a:r>
            <a:endParaRPr b="1">
              <a:solidFill>
                <a:srgbClr val="4A4566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24" name="Google Shape;124;p22"/>
          <p:cNvSpPr txBox="1"/>
          <p:nvPr>
            <p:ph idx="1" type="body"/>
          </p:nvPr>
        </p:nvSpPr>
        <p:spPr>
          <a:xfrm>
            <a:off x="311700" y="1152475"/>
            <a:ext cx="8520600" cy="3990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Clr>
                <a:srgbClr val="58527B"/>
              </a:buClr>
              <a:buSzPts val="2000"/>
              <a:buChar char="●"/>
            </a:pPr>
            <a:r>
              <a:rPr lang="en" sz="2000">
                <a:solidFill>
                  <a:srgbClr val="5E5A78"/>
                </a:solidFill>
                <a:latin typeface="Montserrat"/>
                <a:ea typeface="Montserrat"/>
                <a:cs typeface="Montserrat"/>
                <a:sym typeface="Montserrat"/>
              </a:rPr>
              <a:t>Highest-value customers are</a:t>
            </a:r>
            <a:r>
              <a:rPr lang="en" sz="2000">
                <a:solidFill>
                  <a:schemeClr val="dk1"/>
                </a:solidFill>
              </a:rPr>
              <a:t> </a:t>
            </a:r>
            <a:r>
              <a:rPr lang="en" sz="2000">
                <a:solidFill>
                  <a:srgbClr val="18A0A9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middle-to-upper income ($30K–$90K), married homeowners</a:t>
            </a:r>
            <a:endParaRPr sz="2000">
              <a:solidFill>
                <a:srgbClr val="18A0A9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Clr>
                <a:srgbClr val="58527B"/>
              </a:buClr>
              <a:buSzPts val="2000"/>
              <a:buChar char="●"/>
            </a:pPr>
            <a:r>
              <a:rPr lang="en" sz="2000">
                <a:solidFill>
                  <a:srgbClr val="5E5A78"/>
                </a:solidFill>
                <a:latin typeface="Montserrat"/>
                <a:ea typeface="Montserrat"/>
                <a:cs typeface="Montserrat"/>
                <a:sym typeface="Montserrat"/>
              </a:rPr>
              <a:t>Customer base</a:t>
            </a:r>
            <a:r>
              <a:rPr lang="en" sz="2000">
                <a:solidFill>
                  <a:schemeClr val="dk1"/>
                </a:solidFill>
              </a:rPr>
              <a:t> </a:t>
            </a:r>
            <a:r>
              <a:rPr lang="en" sz="2000">
                <a:solidFill>
                  <a:srgbClr val="18A0A9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skews older</a:t>
            </a:r>
            <a:r>
              <a:rPr lang="en" sz="2000">
                <a:solidFill>
                  <a:srgbClr val="5E5A78"/>
                </a:solidFill>
                <a:latin typeface="Montserrat"/>
                <a:ea typeface="Montserrat"/>
                <a:cs typeface="Montserrat"/>
                <a:sym typeface="Montserrat"/>
              </a:rPr>
              <a:t>, with</a:t>
            </a:r>
            <a:r>
              <a:rPr lang="en" sz="2000">
                <a:solidFill>
                  <a:schemeClr val="dk1"/>
                </a:solidFill>
              </a:rPr>
              <a:t> </a:t>
            </a:r>
            <a:r>
              <a:rPr lang="en" sz="2000">
                <a:solidFill>
                  <a:srgbClr val="18A0A9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repeat purchasing</a:t>
            </a:r>
            <a:r>
              <a:rPr lang="en" sz="2000">
                <a:solidFill>
                  <a:schemeClr val="dk1"/>
                </a:solidFill>
              </a:rPr>
              <a:t> </a:t>
            </a:r>
            <a:r>
              <a:rPr lang="en" sz="2000">
                <a:solidFill>
                  <a:srgbClr val="5E5A78"/>
                </a:solidFill>
                <a:latin typeface="Montserrat"/>
                <a:ea typeface="Montserrat"/>
                <a:cs typeface="Montserrat"/>
                <a:sym typeface="Montserrat"/>
              </a:rPr>
              <a:t>driving revenue stability</a:t>
            </a:r>
            <a:endParaRPr sz="2000">
              <a:solidFill>
                <a:schemeClr val="dk1"/>
              </a:solidFill>
            </a:endParaRPr>
          </a:p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Clr>
                <a:srgbClr val="58527B"/>
              </a:buClr>
              <a:buSzPts val="2000"/>
              <a:buChar char="●"/>
            </a:pPr>
            <a:r>
              <a:rPr lang="en" sz="2000">
                <a:solidFill>
                  <a:srgbClr val="18A0A9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Professionals and skilled manual workers</a:t>
            </a:r>
            <a:r>
              <a:rPr lang="en" sz="2000">
                <a:solidFill>
                  <a:schemeClr val="dk1"/>
                </a:solidFill>
              </a:rPr>
              <a:t> </a:t>
            </a:r>
            <a:r>
              <a:rPr lang="en" sz="2000">
                <a:solidFill>
                  <a:srgbClr val="5E5A78"/>
                </a:solidFill>
                <a:latin typeface="Montserrat"/>
                <a:ea typeface="Montserrat"/>
                <a:cs typeface="Montserrat"/>
                <a:sym typeface="Montserrat"/>
              </a:rPr>
              <a:t>contribute the majority of revenue</a:t>
            </a:r>
            <a:endParaRPr sz="2000">
              <a:solidFill>
                <a:schemeClr val="dk1"/>
              </a:solidFill>
            </a:endParaRPr>
          </a:p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Clr>
                <a:srgbClr val="58527B"/>
              </a:buClr>
              <a:buSzPts val="2000"/>
              <a:buChar char="●"/>
            </a:pPr>
            <a:r>
              <a:rPr lang="en" sz="2000">
                <a:solidFill>
                  <a:srgbClr val="18A0A9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Gender mix is balanced</a:t>
            </a:r>
            <a:r>
              <a:rPr lang="en" sz="2000">
                <a:solidFill>
                  <a:srgbClr val="5E5A78"/>
                </a:solidFill>
                <a:latin typeface="Montserrat"/>
                <a:ea typeface="Montserrat"/>
                <a:cs typeface="Montserrat"/>
                <a:sym typeface="Montserrat"/>
              </a:rPr>
              <a:t>; value is driven more by</a:t>
            </a:r>
            <a:r>
              <a:rPr lang="en" sz="2000">
                <a:solidFill>
                  <a:schemeClr val="dk1"/>
                </a:solidFill>
              </a:rPr>
              <a:t> </a:t>
            </a:r>
            <a:r>
              <a:rPr lang="en" sz="2000">
                <a:solidFill>
                  <a:srgbClr val="18A0A9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life stage and household profile</a:t>
            </a:r>
            <a:endParaRPr sz="2000">
              <a:solidFill>
                <a:srgbClr val="18A0A9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Clr>
                <a:srgbClr val="58527B"/>
              </a:buClr>
              <a:buSzPts val="2000"/>
              <a:buChar char="●"/>
            </a:pPr>
            <a:r>
              <a:rPr lang="en" sz="2000">
                <a:solidFill>
                  <a:srgbClr val="5E5A78"/>
                </a:solidFill>
                <a:latin typeface="Montserrat"/>
                <a:ea typeface="Montserrat"/>
                <a:cs typeface="Montserrat"/>
                <a:sym typeface="Montserrat"/>
              </a:rPr>
              <a:t>Strong customer concentration in the</a:t>
            </a:r>
            <a:r>
              <a:rPr lang="en" sz="2000">
                <a:solidFill>
                  <a:schemeClr val="dk1"/>
                </a:solidFill>
              </a:rPr>
              <a:t> </a:t>
            </a:r>
            <a:r>
              <a:rPr lang="en" sz="2000">
                <a:solidFill>
                  <a:srgbClr val="18A0A9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West Coast</a:t>
            </a:r>
            <a:r>
              <a:rPr lang="en" sz="2000">
                <a:solidFill>
                  <a:srgbClr val="5E5A78"/>
                </a:solidFill>
                <a:latin typeface="Montserrat"/>
                <a:ea typeface="Montserrat"/>
                <a:cs typeface="Montserrat"/>
                <a:sym typeface="Montserrat"/>
              </a:rPr>
              <a:t>, especially</a:t>
            </a:r>
            <a:r>
              <a:rPr lang="en" sz="2000">
                <a:solidFill>
                  <a:schemeClr val="dk1"/>
                </a:solidFill>
              </a:rPr>
              <a:t> </a:t>
            </a:r>
            <a:r>
              <a:rPr lang="en" sz="2000">
                <a:solidFill>
                  <a:srgbClr val="18A0A9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California</a:t>
            </a:r>
            <a:endParaRPr b="1" sz="20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DDDEDF"/>
        </a:solidFill>
      </p:bgPr>
    </p:bg>
    <p:spTree>
      <p:nvGrpSpPr>
        <p:cNvPr id="128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p23"/>
          <p:cNvSpPr txBox="1"/>
          <p:nvPr>
            <p:ph type="title"/>
          </p:nvPr>
        </p:nvSpPr>
        <p:spPr>
          <a:xfrm>
            <a:off x="311700" y="28677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b="1" lang="en" sz="2720">
                <a:solidFill>
                  <a:srgbClr val="4A4566"/>
                </a:solidFill>
                <a:latin typeface="Montserrat"/>
                <a:ea typeface="Montserrat"/>
                <a:cs typeface="Montserrat"/>
                <a:sym typeface="Montserrat"/>
              </a:rPr>
              <a:t>Customer Segments &amp; Growth Opportunities</a:t>
            </a:r>
            <a:endParaRPr b="1" sz="2720">
              <a:solidFill>
                <a:srgbClr val="4A4566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130" name="Google Shape;130;p2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11700" y="1155200"/>
            <a:ext cx="4029600" cy="2961300"/>
          </a:xfrm>
          <a:prstGeom prst="roundRect">
            <a:avLst>
              <a:gd fmla="val 5160" name="adj"/>
            </a:avLst>
          </a:prstGeom>
          <a:noFill/>
          <a:ln>
            <a:noFill/>
          </a:ln>
        </p:spPr>
      </p:pic>
      <p:pic>
        <p:nvPicPr>
          <p:cNvPr id="131" name="Google Shape;131;p23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782200" y="1155200"/>
            <a:ext cx="4029600" cy="2961300"/>
          </a:xfrm>
          <a:prstGeom prst="roundRect">
            <a:avLst>
              <a:gd fmla="val 4962" name="adj"/>
            </a:avLst>
          </a:prstGeom>
          <a:noFill/>
          <a:ln>
            <a:noFill/>
          </a:ln>
        </p:spPr>
      </p:pic>
      <p:sp>
        <p:nvSpPr>
          <p:cNvPr id="132" name="Google Shape;132;p23"/>
          <p:cNvSpPr txBox="1"/>
          <p:nvPr/>
        </p:nvSpPr>
        <p:spPr>
          <a:xfrm>
            <a:off x="311700" y="4173050"/>
            <a:ext cx="4029600" cy="970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rgbClr val="58527B"/>
              </a:buClr>
              <a:buSzPts val="1800"/>
              <a:buFont typeface="Montserrat"/>
              <a:buChar char="●"/>
            </a:pPr>
            <a:r>
              <a:rPr lang="en" sz="1800">
                <a:solidFill>
                  <a:srgbClr val="5E5A78"/>
                </a:solidFill>
                <a:latin typeface="Montserrat"/>
                <a:ea typeface="Montserrat"/>
                <a:cs typeface="Montserrat"/>
                <a:sym typeface="Montserrat"/>
              </a:rPr>
              <a:t>Revenue is driven by middle-to-upper income customers.</a:t>
            </a:r>
            <a:endParaRPr sz="1800">
              <a:solidFill>
                <a:srgbClr val="5E5A78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33" name="Google Shape;133;p23"/>
          <p:cNvSpPr txBox="1"/>
          <p:nvPr/>
        </p:nvSpPr>
        <p:spPr>
          <a:xfrm>
            <a:off x="4782200" y="4173050"/>
            <a:ext cx="4029600" cy="970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8527B"/>
              </a:buClr>
              <a:buSzPts val="1800"/>
              <a:buFont typeface="Montserrat"/>
              <a:buChar char="●"/>
            </a:pPr>
            <a:r>
              <a:rPr lang="en" sz="1800">
                <a:solidFill>
                  <a:srgbClr val="5E5A78"/>
                </a:solidFill>
                <a:latin typeface="Montserrat"/>
                <a:ea typeface="Montserrat"/>
                <a:cs typeface="Montserrat"/>
                <a:sym typeface="Montserrat"/>
              </a:rPr>
              <a:t>Customer value is concentrated on the West Coast, with room to expand.</a:t>
            </a:r>
            <a:endParaRPr sz="1800">
              <a:solidFill>
                <a:srgbClr val="5E5A78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DDDEDF"/>
        </a:solidFill>
      </p:bgPr>
    </p:bg>
    <p:spTree>
      <p:nvGrpSpPr>
        <p:cNvPr id="137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p24"/>
          <p:cNvSpPr txBox="1"/>
          <p:nvPr>
            <p:ph type="title"/>
          </p:nvPr>
        </p:nvSpPr>
        <p:spPr>
          <a:xfrm>
            <a:off x="379500" y="15115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4A4566"/>
                </a:solidFill>
                <a:latin typeface="Montserrat"/>
                <a:ea typeface="Montserrat"/>
                <a:cs typeface="Montserrat"/>
                <a:sym typeface="Montserrat"/>
              </a:rPr>
              <a:t>Product Performance &amp; Profitability</a:t>
            </a:r>
            <a:endParaRPr b="1">
              <a:solidFill>
                <a:srgbClr val="4A4566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39" name="Google Shape;139;p24"/>
          <p:cNvSpPr txBox="1"/>
          <p:nvPr>
            <p:ph idx="1" type="body"/>
          </p:nvPr>
        </p:nvSpPr>
        <p:spPr>
          <a:xfrm>
            <a:off x="311700" y="1152475"/>
            <a:ext cx="8520600" cy="3990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Clr>
                <a:srgbClr val="58527B"/>
              </a:buClr>
              <a:buSzPts val="2000"/>
              <a:buChar char="●"/>
            </a:pPr>
            <a:r>
              <a:rPr lang="en" sz="2000">
                <a:solidFill>
                  <a:srgbClr val="18A0A9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High revenue ≠ high profit</a:t>
            </a:r>
            <a:r>
              <a:rPr lang="en" sz="2000">
                <a:solidFill>
                  <a:srgbClr val="5E5A78"/>
                </a:solidFill>
                <a:latin typeface="Montserrat"/>
                <a:ea typeface="Montserrat"/>
                <a:cs typeface="Montserrat"/>
                <a:sym typeface="Montserrat"/>
              </a:rPr>
              <a:t>; cost structure and returns drive net performance</a:t>
            </a:r>
            <a:endParaRPr sz="2000">
              <a:solidFill>
                <a:srgbClr val="5E5A78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Clr>
                <a:srgbClr val="58527B"/>
              </a:buClr>
              <a:buSzPts val="2000"/>
              <a:buChar char="●"/>
            </a:pPr>
            <a:r>
              <a:rPr lang="en" sz="2000">
                <a:solidFill>
                  <a:srgbClr val="18A0A9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Margins are consistently strong</a:t>
            </a:r>
            <a:r>
              <a:rPr lang="en" sz="2000">
                <a:solidFill>
                  <a:srgbClr val="5E5A78"/>
                </a:solidFill>
                <a:latin typeface="Montserrat"/>
                <a:ea typeface="Montserrat"/>
                <a:cs typeface="Montserrat"/>
                <a:sym typeface="Montserrat"/>
              </a:rPr>
              <a:t>, limiting differentiation by margin alone</a:t>
            </a:r>
            <a:endParaRPr sz="2000">
              <a:solidFill>
                <a:srgbClr val="5E5A78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Clr>
                <a:srgbClr val="58527B"/>
              </a:buClr>
              <a:buSzPts val="2000"/>
              <a:buChar char="●"/>
            </a:pPr>
            <a:r>
              <a:rPr lang="en" sz="2000">
                <a:solidFill>
                  <a:srgbClr val="18A0A9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Returns and cost control</a:t>
            </a:r>
            <a:r>
              <a:rPr lang="en" sz="2000">
                <a:solidFill>
                  <a:schemeClr val="dk1"/>
                </a:solidFill>
              </a:rPr>
              <a:t> </a:t>
            </a:r>
            <a:r>
              <a:rPr lang="en" sz="2000">
                <a:solidFill>
                  <a:srgbClr val="5E5A78"/>
                </a:solidFill>
                <a:latin typeface="Montserrat"/>
                <a:ea typeface="Montserrat"/>
                <a:cs typeface="Montserrat"/>
                <a:sym typeface="Montserrat"/>
              </a:rPr>
              <a:t>are the primary levers for profit improvement</a:t>
            </a:r>
            <a:endParaRPr sz="2000">
              <a:solidFill>
                <a:srgbClr val="5E5A78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Clr>
                <a:srgbClr val="58527B"/>
              </a:buClr>
              <a:buSzPts val="2000"/>
              <a:buChar char="●"/>
            </a:pPr>
            <a:r>
              <a:rPr lang="en" sz="2000">
                <a:solidFill>
                  <a:srgbClr val="5E5A78"/>
                </a:solidFill>
                <a:latin typeface="Montserrat"/>
                <a:ea typeface="Montserrat"/>
                <a:cs typeface="Montserrat"/>
                <a:sym typeface="Montserrat"/>
              </a:rPr>
              <a:t>Some</a:t>
            </a:r>
            <a:r>
              <a:rPr lang="en" sz="2000">
                <a:solidFill>
                  <a:schemeClr val="dk1"/>
                </a:solidFill>
              </a:rPr>
              <a:t> </a:t>
            </a:r>
            <a:r>
              <a:rPr lang="en" sz="2000">
                <a:solidFill>
                  <a:srgbClr val="18A0A9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high-selling products suffer from structural cost inefficiencies</a:t>
            </a:r>
            <a:r>
              <a:rPr lang="en" sz="2000">
                <a:solidFill>
                  <a:srgbClr val="5E5A78"/>
                </a:solidFill>
                <a:latin typeface="Montserrat"/>
                <a:ea typeface="Montserrat"/>
                <a:cs typeface="Montserrat"/>
                <a:sym typeface="Montserrat"/>
              </a:rPr>
              <a:t>, not demand issues</a:t>
            </a:r>
            <a:endParaRPr sz="2000">
              <a:solidFill>
                <a:schemeClr val="dk1"/>
              </a:solidFill>
            </a:endParaRPr>
          </a:p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Clr>
                <a:srgbClr val="58527B"/>
              </a:buClr>
              <a:buSzPts val="2000"/>
              <a:buChar char="●"/>
            </a:pPr>
            <a:r>
              <a:rPr lang="en" sz="2000">
                <a:solidFill>
                  <a:srgbClr val="18A0A9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Targeted optimization</a:t>
            </a:r>
            <a:r>
              <a:rPr lang="en" sz="2000">
                <a:solidFill>
                  <a:schemeClr val="dk1"/>
                </a:solidFill>
              </a:rPr>
              <a:t> </a:t>
            </a:r>
            <a:r>
              <a:rPr lang="en" sz="2000">
                <a:solidFill>
                  <a:srgbClr val="5E5A78"/>
                </a:solidFill>
                <a:latin typeface="Montserrat"/>
                <a:ea typeface="Montserrat"/>
                <a:cs typeface="Montserrat"/>
                <a:sym typeface="Montserrat"/>
              </a:rPr>
              <a:t>of underperforming products can unlock</a:t>
            </a:r>
            <a:r>
              <a:rPr lang="en" sz="2000">
                <a:solidFill>
                  <a:schemeClr val="dk1"/>
                </a:solidFill>
              </a:rPr>
              <a:t> </a:t>
            </a:r>
            <a:r>
              <a:rPr lang="en" sz="2000">
                <a:solidFill>
                  <a:srgbClr val="18A0A9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outsized profit gains</a:t>
            </a:r>
            <a:endParaRPr sz="2000">
              <a:solidFill>
                <a:srgbClr val="18A0A9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  <a:p>
            <a:pPr indent="0" lvl="0" marL="45720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DDDEDF"/>
        </a:solidFill>
      </p:bgPr>
    </p:bg>
    <p:spTree>
      <p:nvGrpSpPr>
        <p:cNvPr id="143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p25"/>
          <p:cNvSpPr txBox="1"/>
          <p:nvPr>
            <p:ph type="title"/>
          </p:nvPr>
        </p:nvSpPr>
        <p:spPr>
          <a:xfrm>
            <a:off x="311700" y="13985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b="1" lang="en" sz="2320">
                <a:solidFill>
                  <a:srgbClr val="4A4566"/>
                </a:solidFill>
                <a:latin typeface="Montserrat"/>
                <a:ea typeface="Montserrat"/>
                <a:cs typeface="Montserrat"/>
                <a:sym typeface="Montserrat"/>
              </a:rPr>
              <a:t>Product Profit Drivers &amp; Optimization Opportunities</a:t>
            </a:r>
            <a:endParaRPr b="1" sz="2320">
              <a:solidFill>
                <a:srgbClr val="4A4566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145" name="Google Shape;145;p2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38450" y="906550"/>
            <a:ext cx="4248900" cy="3662100"/>
          </a:xfrm>
          <a:prstGeom prst="roundRect">
            <a:avLst>
              <a:gd fmla="val 4013" name="adj"/>
            </a:avLst>
          </a:prstGeom>
          <a:noFill/>
          <a:ln>
            <a:noFill/>
          </a:ln>
        </p:spPr>
      </p:pic>
      <p:pic>
        <p:nvPicPr>
          <p:cNvPr id="146" name="Google Shape;146;p2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706775" y="906550"/>
            <a:ext cx="4200900" cy="3662100"/>
          </a:xfrm>
          <a:prstGeom prst="roundRect">
            <a:avLst>
              <a:gd fmla="val 3911" name="adj"/>
            </a:avLst>
          </a:prstGeom>
          <a:noFill/>
          <a:ln>
            <a:noFill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DDDEDF"/>
        </a:solidFill>
      </p:bgPr>
    </p:bg>
    <p:spTree>
      <p:nvGrpSpPr>
        <p:cNvPr id="150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Google Shape;151;p26"/>
          <p:cNvSpPr txBox="1"/>
          <p:nvPr>
            <p:ph type="title"/>
          </p:nvPr>
        </p:nvSpPr>
        <p:spPr>
          <a:xfrm>
            <a:off x="311700" y="15367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35106"/>
              <a:buFont typeface="Arial"/>
              <a:buNone/>
            </a:pPr>
            <a:r>
              <a:rPr b="1" lang="en" sz="3133">
                <a:solidFill>
                  <a:srgbClr val="4A4566"/>
                </a:solidFill>
                <a:latin typeface="Montserrat"/>
                <a:ea typeface="Montserrat"/>
                <a:cs typeface="Montserrat"/>
                <a:sym typeface="Montserrat"/>
              </a:rPr>
              <a:t>Executive Insight Summary</a:t>
            </a:r>
            <a:endParaRPr b="1" sz="3133">
              <a:solidFill>
                <a:srgbClr val="4A4566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2" name="Google Shape;152;p26"/>
          <p:cNvSpPr txBox="1"/>
          <p:nvPr>
            <p:ph idx="1" type="body"/>
          </p:nvPr>
        </p:nvSpPr>
        <p:spPr>
          <a:xfrm>
            <a:off x="311700" y="954825"/>
            <a:ext cx="8520600" cy="4188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30200" lvl="0" marL="457200" rtl="0" algn="l">
              <a:spcBef>
                <a:spcPts val="1200"/>
              </a:spcBef>
              <a:spcAft>
                <a:spcPts val="0"/>
              </a:spcAft>
              <a:buClr>
                <a:srgbClr val="58527B"/>
              </a:buClr>
              <a:buSzPts val="1600"/>
              <a:buChar char="●"/>
            </a:pPr>
            <a:r>
              <a:rPr lang="en" sz="1600">
                <a:solidFill>
                  <a:srgbClr val="5E5A78"/>
                </a:solidFill>
                <a:latin typeface="Montserrat"/>
                <a:ea typeface="Montserrat"/>
                <a:cs typeface="Montserrat"/>
                <a:sym typeface="Montserrat"/>
              </a:rPr>
              <a:t>Structurally strong,</a:t>
            </a:r>
            <a:r>
              <a:rPr lang="en" sz="1600">
                <a:solidFill>
                  <a:schemeClr val="dk1"/>
                </a:solidFill>
              </a:rPr>
              <a:t> </a:t>
            </a:r>
            <a:r>
              <a:rPr lang="en" sz="1600">
                <a:solidFill>
                  <a:srgbClr val="18A0A9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high-margin (~60%) </a:t>
            </a:r>
            <a:r>
              <a:rPr lang="en" sz="1600">
                <a:solidFill>
                  <a:srgbClr val="5E5A78"/>
                </a:solidFill>
                <a:latin typeface="Montserrat"/>
                <a:ea typeface="Montserrat"/>
                <a:cs typeface="Montserrat"/>
                <a:sym typeface="Montserrat"/>
              </a:rPr>
              <a:t>business with</a:t>
            </a:r>
            <a:r>
              <a:rPr lang="en" sz="1600">
                <a:solidFill>
                  <a:srgbClr val="18A0A9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 scalable</a:t>
            </a:r>
            <a:r>
              <a:rPr lang="en" sz="1600">
                <a:solidFill>
                  <a:srgbClr val="5E5A78"/>
                </a:solidFill>
                <a:latin typeface="Montserrat"/>
                <a:ea typeface="Montserrat"/>
                <a:cs typeface="Montserrat"/>
                <a:sym typeface="Montserrat"/>
              </a:rPr>
              <a:t>,</a:t>
            </a:r>
            <a:r>
              <a:rPr b="1" lang="en" sz="1600">
                <a:solidFill>
                  <a:schemeClr val="dk1"/>
                </a:solidFill>
              </a:rPr>
              <a:t> </a:t>
            </a:r>
            <a:r>
              <a:rPr lang="en" sz="1600">
                <a:solidFill>
                  <a:srgbClr val="18A0A9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volume-led growth</a:t>
            </a:r>
            <a:endParaRPr b="1" sz="1600">
              <a:solidFill>
                <a:schemeClr val="dk1"/>
              </a:solidFill>
            </a:endParaRPr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Clr>
                <a:srgbClr val="58527B"/>
              </a:buClr>
              <a:buSzPts val="1600"/>
              <a:buChar char="●"/>
            </a:pPr>
            <a:r>
              <a:rPr lang="en" sz="1600">
                <a:solidFill>
                  <a:srgbClr val="5E5A78"/>
                </a:solidFill>
                <a:latin typeface="Montserrat"/>
                <a:ea typeface="Montserrat"/>
                <a:cs typeface="Montserrat"/>
                <a:sym typeface="Montserrat"/>
              </a:rPr>
              <a:t>Revenue growth </a:t>
            </a:r>
            <a:r>
              <a:rPr lang="en" sz="1600">
                <a:solidFill>
                  <a:srgbClr val="18A0A9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accelerated in early 1998</a:t>
            </a:r>
            <a:r>
              <a:rPr lang="en" sz="1600">
                <a:solidFill>
                  <a:schemeClr val="dk1"/>
                </a:solidFill>
              </a:rPr>
              <a:t> </a:t>
            </a:r>
            <a:r>
              <a:rPr lang="en" sz="1600">
                <a:solidFill>
                  <a:srgbClr val="5E5A78"/>
                </a:solidFill>
                <a:latin typeface="Montserrat"/>
                <a:ea typeface="Montserrat"/>
                <a:cs typeface="Montserrat"/>
                <a:sym typeface="Montserrat"/>
              </a:rPr>
              <a:t>and is now</a:t>
            </a:r>
            <a:r>
              <a:rPr lang="en" sz="1600">
                <a:solidFill>
                  <a:schemeClr val="dk1"/>
                </a:solidFill>
              </a:rPr>
              <a:t> </a:t>
            </a:r>
            <a:r>
              <a:rPr lang="en" sz="1600">
                <a:solidFill>
                  <a:srgbClr val="18A0A9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predictable and execution-driven</a:t>
            </a:r>
            <a:endParaRPr sz="1600">
              <a:solidFill>
                <a:srgbClr val="18A0A9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Clr>
                <a:srgbClr val="58527B"/>
              </a:buClr>
              <a:buSzPts val="1600"/>
              <a:buChar char="●"/>
            </a:pPr>
            <a:r>
              <a:rPr lang="en" sz="1600">
                <a:solidFill>
                  <a:srgbClr val="18A0A9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Large-format stores</a:t>
            </a:r>
            <a:r>
              <a:rPr lang="en" sz="1600">
                <a:solidFill>
                  <a:schemeClr val="dk1"/>
                </a:solidFill>
              </a:rPr>
              <a:t> </a:t>
            </a:r>
            <a:r>
              <a:rPr lang="en" sz="1600">
                <a:solidFill>
                  <a:srgbClr val="5E5A78"/>
                </a:solidFill>
                <a:latin typeface="Montserrat"/>
                <a:ea typeface="Montserrat"/>
                <a:cs typeface="Montserrat"/>
                <a:sym typeface="Montserrat"/>
              </a:rPr>
              <a:t>deliver scale</a:t>
            </a:r>
            <a:r>
              <a:rPr lang="en" sz="1600">
                <a:solidFill>
                  <a:schemeClr val="dk1"/>
                </a:solidFill>
              </a:rPr>
              <a:t> </a:t>
            </a:r>
            <a:r>
              <a:rPr lang="en" sz="1600">
                <a:solidFill>
                  <a:srgbClr val="18A0A9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without margin dilution</a:t>
            </a:r>
            <a:r>
              <a:rPr lang="en" sz="1600">
                <a:solidFill>
                  <a:srgbClr val="5E5A78"/>
                </a:solidFill>
                <a:latin typeface="Montserrat"/>
                <a:ea typeface="Montserrat"/>
                <a:cs typeface="Montserrat"/>
                <a:sym typeface="Montserrat"/>
              </a:rPr>
              <a:t>; execution quality drives results</a:t>
            </a:r>
            <a:endParaRPr sz="1600">
              <a:solidFill>
                <a:srgbClr val="5E5A78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Clr>
                <a:srgbClr val="58527B"/>
              </a:buClr>
              <a:buSzPts val="1600"/>
              <a:buChar char="●"/>
            </a:pPr>
            <a:r>
              <a:rPr lang="en" sz="1600">
                <a:solidFill>
                  <a:srgbClr val="5E5A78"/>
                </a:solidFill>
                <a:latin typeface="Montserrat"/>
                <a:ea typeface="Montserrat"/>
                <a:cs typeface="Montserrat"/>
                <a:sym typeface="Montserrat"/>
              </a:rPr>
              <a:t>Revenue and demand are</a:t>
            </a:r>
            <a:r>
              <a:rPr lang="en" sz="1600">
                <a:solidFill>
                  <a:schemeClr val="dk1"/>
                </a:solidFill>
              </a:rPr>
              <a:t> </a:t>
            </a:r>
            <a:r>
              <a:rPr lang="en" sz="1600">
                <a:solidFill>
                  <a:srgbClr val="18A0A9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well diversified</a:t>
            </a:r>
            <a:r>
              <a:rPr lang="en" sz="1600">
                <a:solidFill>
                  <a:schemeClr val="dk1"/>
                </a:solidFill>
              </a:rPr>
              <a:t> </a:t>
            </a:r>
            <a:r>
              <a:rPr lang="en" sz="1600">
                <a:solidFill>
                  <a:srgbClr val="5E5A78"/>
                </a:solidFill>
                <a:latin typeface="Montserrat"/>
                <a:ea typeface="Montserrat"/>
                <a:cs typeface="Montserrat"/>
                <a:sym typeface="Montserrat"/>
              </a:rPr>
              <a:t>across</a:t>
            </a:r>
            <a:r>
              <a:rPr lang="en" sz="1600">
                <a:solidFill>
                  <a:schemeClr val="dk1"/>
                </a:solidFill>
              </a:rPr>
              <a:t> </a:t>
            </a:r>
            <a:r>
              <a:rPr lang="en" sz="1600">
                <a:solidFill>
                  <a:srgbClr val="18A0A9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products and customers</a:t>
            </a:r>
            <a:r>
              <a:rPr lang="en" sz="1600">
                <a:solidFill>
                  <a:schemeClr val="dk1"/>
                </a:solidFill>
              </a:rPr>
              <a:t>, </a:t>
            </a:r>
            <a:r>
              <a:rPr lang="en" sz="1600">
                <a:solidFill>
                  <a:srgbClr val="5E5A78"/>
                </a:solidFill>
                <a:latin typeface="Montserrat"/>
                <a:ea typeface="Montserrat"/>
                <a:cs typeface="Montserrat"/>
                <a:sym typeface="Montserrat"/>
              </a:rPr>
              <a:t>limiting risk</a:t>
            </a:r>
            <a:endParaRPr sz="1600">
              <a:solidFill>
                <a:srgbClr val="5E5A78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Clr>
                <a:srgbClr val="58527B"/>
              </a:buClr>
              <a:buSzPts val="1600"/>
              <a:buChar char="●"/>
            </a:pPr>
            <a:r>
              <a:rPr lang="en" sz="1600">
                <a:solidFill>
                  <a:srgbClr val="5E5A78"/>
                </a:solidFill>
                <a:latin typeface="Montserrat"/>
                <a:ea typeface="Montserrat"/>
                <a:cs typeface="Montserrat"/>
                <a:sym typeface="Montserrat"/>
              </a:rPr>
              <a:t>Core value comes from</a:t>
            </a:r>
            <a:r>
              <a:rPr lang="en" sz="1600">
                <a:solidFill>
                  <a:schemeClr val="dk1"/>
                </a:solidFill>
              </a:rPr>
              <a:t> </a:t>
            </a:r>
            <a:r>
              <a:rPr lang="en" sz="1600">
                <a:solidFill>
                  <a:srgbClr val="18A0A9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established</a:t>
            </a:r>
            <a:r>
              <a:rPr lang="en" sz="1600">
                <a:solidFill>
                  <a:srgbClr val="5E5A78"/>
                </a:solidFill>
                <a:latin typeface="Montserrat"/>
                <a:ea typeface="Montserrat"/>
                <a:cs typeface="Montserrat"/>
                <a:sym typeface="Montserrat"/>
              </a:rPr>
              <a:t>,</a:t>
            </a:r>
            <a:r>
              <a:rPr b="1" lang="en" sz="1600">
                <a:solidFill>
                  <a:schemeClr val="dk1"/>
                </a:solidFill>
              </a:rPr>
              <a:t> </a:t>
            </a:r>
            <a:r>
              <a:rPr lang="en" sz="1600">
                <a:solidFill>
                  <a:srgbClr val="18A0A9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repeat customers </a:t>
            </a:r>
            <a:r>
              <a:rPr lang="en" sz="1600">
                <a:solidFill>
                  <a:srgbClr val="5E5A78"/>
                </a:solidFill>
                <a:latin typeface="Montserrat"/>
                <a:ea typeface="Montserrat"/>
                <a:cs typeface="Montserrat"/>
                <a:sym typeface="Montserrat"/>
              </a:rPr>
              <a:t>with stable purchasing behavior</a:t>
            </a:r>
            <a:endParaRPr sz="1600">
              <a:solidFill>
                <a:srgbClr val="5E5A78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Clr>
                <a:srgbClr val="58527B"/>
              </a:buClr>
              <a:buSzPts val="1600"/>
              <a:buChar char="●"/>
            </a:pPr>
            <a:r>
              <a:rPr lang="en" sz="1600">
                <a:solidFill>
                  <a:srgbClr val="18A0A9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High revenue ≠ high profit</a:t>
            </a:r>
            <a:r>
              <a:rPr lang="en" sz="1600">
                <a:solidFill>
                  <a:srgbClr val="5E5A78"/>
                </a:solidFill>
                <a:latin typeface="Montserrat"/>
                <a:ea typeface="Montserrat"/>
                <a:cs typeface="Montserrat"/>
                <a:sym typeface="Montserrat"/>
              </a:rPr>
              <a:t>; </a:t>
            </a:r>
            <a:r>
              <a:rPr lang="en" sz="1600">
                <a:solidFill>
                  <a:srgbClr val="18A0A9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cost structure and returns</a:t>
            </a:r>
            <a:r>
              <a:rPr lang="en" sz="1600">
                <a:solidFill>
                  <a:schemeClr val="dk1"/>
                </a:solidFill>
              </a:rPr>
              <a:t> </a:t>
            </a:r>
            <a:r>
              <a:rPr lang="en" sz="1600">
                <a:solidFill>
                  <a:srgbClr val="5E5A78"/>
                </a:solidFill>
                <a:latin typeface="Montserrat"/>
                <a:ea typeface="Montserrat"/>
                <a:cs typeface="Montserrat"/>
                <a:sym typeface="Montserrat"/>
              </a:rPr>
              <a:t>determine net performance</a:t>
            </a:r>
            <a:endParaRPr sz="1600">
              <a:solidFill>
                <a:schemeClr val="dk1"/>
              </a:solidFill>
            </a:endParaRPr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Clr>
                <a:srgbClr val="58527B"/>
              </a:buClr>
              <a:buSzPts val="1600"/>
              <a:buChar char="●"/>
            </a:pPr>
            <a:r>
              <a:rPr lang="en" sz="1600">
                <a:solidFill>
                  <a:srgbClr val="5E5A78"/>
                </a:solidFill>
                <a:latin typeface="Montserrat"/>
                <a:ea typeface="Montserrat"/>
                <a:cs typeface="Montserrat"/>
                <a:sym typeface="Montserrat"/>
              </a:rPr>
              <a:t>Next-phase growth depends on</a:t>
            </a:r>
            <a:r>
              <a:rPr lang="en" sz="1600">
                <a:solidFill>
                  <a:schemeClr val="dk1"/>
                </a:solidFill>
              </a:rPr>
              <a:t> </a:t>
            </a:r>
            <a:r>
              <a:rPr lang="en" sz="1600">
                <a:solidFill>
                  <a:srgbClr val="18A0A9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operational efficiency and portfolio optimization</a:t>
            </a:r>
            <a:r>
              <a:rPr lang="en" sz="1600">
                <a:solidFill>
                  <a:srgbClr val="5E5A78"/>
                </a:solidFill>
                <a:latin typeface="Montserrat"/>
                <a:ea typeface="Montserrat"/>
                <a:cs typeface="Montserrat"/>
                <a:sym typeface="Montserrat"/>
              </a:rPr>
              <a:t>, not margin expansion</a:t>
            </a:r>
            <a:endParaRPr sz="16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DDDEDF"/>
        </a:solidFill>
      </p:bgPr>
    </p:bg>
    <p:spTree>
      <p:nvGrpSpPr>
        <p:cNvPr id="156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Google Shape;157;p27"/>
          <p:cNvSpPr txBox="1"/>
          <p:nvPr>
            <p:ph type="title"/>
          </p:nvPr>
        </p:nvSpPr>
        <p:spPr>
          <a:xfrm>
            <a:off x="311700" y="2657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b="1" lang="en" sz="2820">
                <a:solidFill>
                  <a:srgbClr val="4A4566"/>
                </a:solidFill>
                <a:latin typeface="Montserrat"/>
                <a:ea typeface="Montserrat"/>
                <a:cs typeface="Montserrat"/>
                <a:sym typeface="Montserrat"/>
              </a:rPr>
              <a:t>Executive Recommendations</a:t>
            </a:r>
            <a:endParaRPr b="1" sz="2820">
              <a:solidFill>
                <a:srgbClr val="4A4566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58" name="Google Shape;158;p27"/>
          <p:cNvSpPr txBox="1"/>
          <p:nvPr>
            <p:ph idx="1" type="body"/>
          </p:nvPr>
        </p:nvSpPr>
        <p:spPr>
          <a:xfrm>
            <a:off x="311700" y="977225"/>
            <a:ext cx="8520600" cy="416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Clr>
                <a:srgbClr val="58527B"/>
              </a:buClr>
              <a:buSzPts val="1600"/>
              <a:buChar char="●"/>
            </a:pPr>
            <a:r>
              <a:rPr lang="en" sz="1600">
                <a:solidFill>
                  <a:srgbClr val="18A0A9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Scale volume through large-format stores</a:t>
            </a:r>
            <a:r>
              <a:rPr lang="en" sz="1600">
                <a:solidFill>
                  <a:schemeClr val="dk1"/>
                </a:solidFill>
              </a:rPr>
              <a:t> </a:t>
            </a:r>
            <a:r>
              <a:rPr lang="en" sz="1600">
                <a:solidFill>
                  <a:srgbClr val="5E5A78"/>
                </a:solidFill>
                <a:latin typeface="Montserrat"/>
                <a:ea typeface="Montserrat"/>
                <a:cs typeface="Montserrat"/>
                <a:sym typeface="Montserrat"/>
              </a:rPr>
              <a:t>and replicate best-in-class execution from top-performing locations</a:t>
            </a:r>
            <a:endParaRPr sz="1600">
              <a:solidFill>
                <a:srgbClr val="5E5A78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Clr>
                <a:srgbClr val="58527B"/>
              </a:buClr>
              <a:buSzPts val="1600"/>
              <a:buChar char="●"/>
            </a:pPr>
            <a:r>
              <a:rPr lang="en" sz="1600">
                <a:solidFill>
                  <a:srgbClr val="18A0A9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Prioritize cost and returns reduction</a:t>
            </a:r>
            <a:r>
              <a:rPr lang="en" sz="1600">
                <a:solidFill>
                  <a:schemeClr val="dk1"/>
                </a:solidFill>
              </a:rPr>
              <a:t> </a:t>
            </a:r>
            <a:r>
              <a:rPr lang="en" sz="1600">
                <a:solidFill>
                  <a:srgbClr val="5E5A78"/>
                </a:solidFill>
                <a:latin typeface="Montserrat"/>
                <a:ea typeface="Montserrat"/>
                <a:cs typeface="Montserrat"/>
                <a:sym typeface="Montserrat"/>
              </a:rPr>
              <a:t>in high-revenue, low-profit products to unlock immediate profit uplift</a:t>
            </a:r>
            <a:endParaRPr sz="1600">
              <a:solidFill>
                <a:srgbClr val="5E5A78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Clr>
                <a:srgbClr val="58527B"/>
              </a:buClr>
              <a:buSzPts val="1600"/>
              <a:buChar char="●"/>
            </a:pPr>
            <a:r>
              <a:rPr lang="en" sz="1600">
                <a:solidFill>
                  <a:srgbClr val="18A0A9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Focus growth investment on core customer segments</a:t>
            </a:r>
            <a:r>
              <a:rPr lang="en" sz="1600">
                <a:solidFill>
                  <a:schemeClr val="dk1"/>
                </a:solidFill>
              </a:rPr>
              <a:t> </a:t>
            </a:r>
            <a:r>
              <a:rPr lang="en" sz="1600">
                <a:solidFill>
                  <a:srgbClr val="5E5A78"/>
                </a:solidFill>
                <a:latin typeface="Montserrat"/>
                <a:ea typeface="Montserrat"/>
                <a:cs typeface="Montserrat"/>
                <a:sym typeface="Montserrat"/>
              </a:rPr>
              <a:t>(middle-to-upper income, homeowners, professionals) with proven repeat behavior</a:t>
            </a:r>
            <a:endParaRPr sz="1600">
              <a:solidFill>
                <a:srgbClr val="5E5A78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Clr>
                <a:srgbClr val="58527B"/>
              </a:buClr>
              <a:buSzPts val="1600"/>
              <a:buChar char="●"/>
            </a:pPr>
            <a:r>
              <a:rPr lang="en" sz="1600">
                <a:solidFill>
                  <a:srgbClr val="18A0A9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Use execution metrics over geography size</a:t>
            </a:r>
            <a:r>
              <a:rPr lang="en" sz="1600">
                <a:solidFill>
                  <a:schemeClr val="dk1"/>
                </a:solidFill>
              </a:rPr>
              <a:t> </a:t>
            </a:r>
            <a:r>
              <a:rPr lang="en" sz="1600">
                <a:solidFill>
                  <a:srgbClr val="5E5A78"/>
                </a:solidFill>
                <a:latin typeface="Montserrat"/>
                <a:ea typeface="Montserrat"/>
                <a:cs typeface="Montserrat"/>
                <a:sym typeface="Montserrat"/>
              </a:rPr>
              <a:t>to drive store-level performance management</a:t>
            </a:r>
            <a:endParaRPr sz="1600">
              <a:solidFill>
                <a:srgbClr val="5E5A78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Clr>
                <a:srgbClr val="58527B"/>
              </a:buClr>
              <a:buSzPts val="1600"/>
              <a:buChar char="●"/>
            </a:pPr>
            <a:r>
              <a:rPr lang="en" sz="1600">
                <a:solidFill>
                  <a:srgbClr val="18A0A9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Protect diversification while simplifying the product portfolio</a:t>
            </a:r>
            <a:r>
              <a:rPr lang="en" sz="1600">
                <a:solidFill>
                  <a:srgbClr val="5E5A78"/>
                </a:solidFill>
                <a:latin typeface="Montserrat"/>
                <a:ea typeface="Montserrat"/>
                <a:cs typeface="Montserrat"/>
                <a:sym typeface="Montserrat"/>
              </a:rPr>
              <a:t>, fixing or exiting structurally inefficient SKUs</a:t>
            </a:r>
            <a:endParaRPr sz="1600">
              <a:solidFill>
                <a:srgbClr val="5E5A78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Clr>
                <a:srgbClr val="58527B"/>
              </a:buClr>
              <a:buSzPts val="1600"/>
              <a:buChar char="●"/>
            </a:pPr>
            <a:r>
              <a:rPr lang="en" sz="1600">
                <a:solidFill>
                  <a:srgbClr val="18A0A9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Pursue selective geographic expansion</a:t>
            </a:r>
            <a:r>
              <a:rPr lang="en" sz="1600">
                <a:solidFill>
                  <a:schemeClr val="dk1"/>
                </a:solidFill>
              </a:rPr>
              <a:t> </a:t>
            </a:r>
            <a:r>
              <a:rPr lang="en" sz="1600">
                <a:solidFill>
                  <a:srgbClr val="5E5A78"/>
                </a:solidFill>
                <a:latin typeface="Montserrat"/>
                <a:ea typeface="Montserrat"/>
                <a:cs typeface="Montserrat"/>
                <a:sym typeface="Montserrat"/>
              </a:rPr>
              <a:t>beyond the West Coast, testing Mexico with disciplined pilots</a:t>
            </a:r>
            <a:endParaRPr sz="1600">
              <a:solidFill>
                <a:srgbClr val="5E5A78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Clr>
                <a:srgbClr val="58527B"/>
              </a:buClr>
              <a:buSzPts val="1600"/>
              <a:buChar char="●"/>
            </a:pPr>
            <a:r>
              <a:rPr lang="en" sz="1600">
                <a:solidFill>
                  <a:srgbClr val="18A0A9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Track success via volume</a:t>
            </a:r>
            <a:r>
              <a:rPr lang="en" sz="1600">
                <a:solidFill>
                  <a:srgbClr val="5E5A78"/>
                </a:solidFill>
                <a:latin typeface="Montserrat"/>
                <a:ea typeface="Montserrat"/>
                <a:cs typeface="Montserrat"/>
                <a:sym typeface="Montserrat"/>
              </a:rPr>
              <a:t>,</a:t>
            </a:r>
            <a:r>
              <a:rPr lang="en" sz="1600">
                <a:solidFill>
                  <a:srgbClr val="18A0A9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 cost</a:t>
            </a:r>
            <a:r>
              <a:rPr lang="en" sz="1600">
                <a:solidFill>
                  <a:srgbClr val="5E5A78"/>
                </a:solidFill>
                <a:latin typeface="Montserrat"/>
                <a:ea typeface="Montserrat"/>
                <a:cs typeface="Montserrat"/>
                <a:sym typeface="Montserrat"/>
              </a:rPr>
              <a:t>,</a:t>
            </a:r>
            <a:r>
              <a:rPr lang="en" sz="1600">
                <a:solidFill>
                  <a:srgbClr val="18A0A9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 </a:t>
            </a:r>
            <a:r>
              <a:rPr lang="en" sz="1600">
                <a:solidFill>
                  <a:srgbClr val="5E5A78"/>
                </a:solidFill>
                <a:latin typeface="Montserrat"/>
                <a:ea typeface="Montserrat"/>
                <a:cs typeface="Montserrat"/>
                <a:sym typeface="Montserrat"/>
              </a:rPr>
              <a:t>and</a:t>
            </a:r>
            <a:r>
              <a:rPr lang="en" sz="1600">
                <a:solidFill>
                  <a:srgbClr val="18A0A9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 return-rate KPIs</a:t>
            </a:r>
            <a:r>
              <a:rPr lang="en" sz="1600">
                <a:solidFill>
                  <a:srgbClr val="5E5A78"/>
                </a:solidFill>
                <a:latin typeface="Montserrat"/>
                <a:ea typeface="Montserrat"/>
                <a:cs typeface="Montserrat"/>
                <a:sym typeface="Montserrat"/>
              </a:rPr>
              <a:t>, not margin expansion targets</a:t>
            </a:r>
            <a:endParaRPr sz="1600">
              <a:solidFill>
                <a:srgbClr val="5E5A78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DDDEDF"/>
        </a:solidFill>
      </p:bgPr>
    </p:bg>
    <p:spTree>
      <p:nvGrpSpPr>
        <p:cNvPr id="162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Google Shape;163;p28"/>
          <p:cNvSpPr txBox="1"/>
          <p:nvPr>
            <p:ph type="title"/>
          </p:nvPr>
        </p:nvSpPr>
        <p:spPr>
          <a:xfrm>
            <a:off x="311700" y="10885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b="1" lang="en" sz="2820">
                <a:solidFill>
                  <a:srgbClr val="4A4566"/>
                </a:solidFill>
                <a:latin typeface="Montserrat"/>
                <a:ea typeface="Montserrat"/>
                <a:cs typeface="Montserrat"/>
                <a:sym typeface="Montserrat"/>
              </a:rPr>
              <a:t>Executive Summary</a:t>
            </a:r>
            <a:endParaRPr b="1" sz="2820">
              <a:solidFill>
                <a:srgbClr val="4A4566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164" name="Google Shape;164;p28" title="Executive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59500" y="921275"/>
            <a:ext cx="8236200" cy="4101600"/>
          </a:xfrm>
          <a:prstGeom prst="rect">
            <a:avLst/>
          </a:prstGeom>
          <a:noFill/>
          <a:ln cap="flat" cmpd="sng" w="9525">
            <a:solidFill>
              <a:srgbClr val="EDEFEF"/>
            </a:solidFill>
            <a:prstDash val="solid"/>
            <a:round/>
            <a:headEnd len="sm" w="sm" type="none"/>
            <a:tailEnd len="sm" w="sm" type="none"/>
          </a:ln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DDDEDF"/>
        </a:solidFill>
      </p:bgPr>
    </p:bg>
    <p:spTree>
      <p:nvGrpSpPr>
        <p:cNvPr id="168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Google Shape;169;p29"/>
          <p:cNvSpPr txBox="1"/>
          <p:nvPr>
            <p:ph type="title"/>
          </p:nvPr>
        </p:nvSpPr>
        <p:spPr>
          <a:xfrm>
            <a:off x="311700" y="864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90"/>
              <a:buFont typeface="Arial"/>
              <a:buNone/>
            </a:pPr>
            <a:r>
              <a:rPr b="1" lang="en">
                <a:solidFill>
                  <a:srgbClr val="4A4566"/>
                </a:solidFill>
                <a:latin typeface="Montserrat"/>
                <a:ea typeface="Montserrat"/>
                <a:cs typeface="Montserrat"/>
                <a:sym typeface="Montserrat"/>
              </a:rPr>
              <a:t>Sales &amp; Transaction Analysis</a:t>
            </a:r>
            <a:endParaRPr b="1">
              <a:solidFill>
                <a:srgbClr val="4A4566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170" name="Google Shape;170;p29" title="Sales &amp; Transactions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38050" y="811525"/>
            <a:ext cx="8247525" cy="4179576"/>
          </a:xfrm>
          <a:prstGeom prst="rect">
            <a:avLst/>
          </a:prstGeom>
          <a:noFill/>
          <a:ln cap="flat" cmpd="sng" w="9525">
            <a:solidFill>
              <a:srgbClr val="EDEFEF"/>
            </a:solidFill>
            <a:prstDash val="solid"/>
            <a:round/>
            <a:headEnd len="sm" w="sm" type="none"/>
            <a:tailEnd len="sm" w="sm" type="none"/>
          </a:ln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DDDEDF"/>
        </a:solidFill>
      </p:bgPr>
    </p:bg>
    <p:spTree>
      <p:nvGrpSpPr>
        <p:cNvPr id="174" name="Shape 1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Google Shape;175;p30"/>
          <p:cNvSpPr txBox="1"/>
          <p:nvPr>
            <p:ph type="title"/>
          </p:nvPr>
        </p:nvSpPr>
        <p:spPr>
          <a:xfrm>
            <a:off x="311700" y="976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b="1" lang="en">
                <a:solidFill>
                  <a:srgbClr val="4A4566"/>
                </a:solidFill>
                <a:latin typeface="Montserrat"/>
                <a:ea typeface="Montserrat"/>
                <a:cs typeface="Montserrat"/>
                <a:sym typeface="Montserrat"/>
              </a:rPr>
              <a:t>Customer</a:t>
            </a:r>
            <a:r>
              <a:rPr b="1" lang="en">
                <a:latin typeface="Montserrat"/>
                <a:ea typeface="Montserrat"/>
                <a:cs typeface="Montserrat"/>
                <a:sym typeface="Montserrat"/>
              </a:rPr>
              <a:t> </a:t>
            </a:r>
            <a:r>
              <a:rPr b="1" lang="en">
                <a:solidFill>
                  <a:srgbClr val="4A4566"/>
                </a:solidFill>
                <a:latin typeface="Montserrat"/>
                <a:ea typeface="Montserrat"/>
                <a:cs typeface="Montserrat"/>
                <a:sym typeface="Montserrat"/>
              </a:rPr>
              <a:t>Analytics</a:t>
            </a:r>
            <a:endParaRPr b="1"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176" name="Google Shape;176;p30" title="Customer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48300" y="822725"/>
            <a:ext cx="8225125" cy="4168375"/>
          </a:xfrm>
          <a:prstGeom prst="rect">
            <a:avLst/>
          </a:prstGeom>
          <a:noFill/>
          <a:ln cap="flat" cmpd="sng" w="9525">
            <a:solidFill>
              <a:srgbClr val="EDEFEF"/>
            </a:solidFill>
            <a:prstDash val="solid"/>
            <a:round/>
            <a:headEnd len="sm" w="sm" type="none"/>
            <a:tailEnd len="sm" w="sm" type="none"/>
          </a:ln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DDDEDF"/>
        </a:solidFill>
      </p:bgPr>
    </p:bg>
    <p:spTree>
      <p:nvGrpSpPr>
        <p:cNvPr id="180" name="Shape 1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" name="Google Shape;181;p31"/>
          <p:cNvSpPr txBox="1"/>
          <p:nvPr>
            <p:ph type="title"/>
          </p:nvPr>
        </p:nvSpPr>
        <p:spPr>
          <a:xfrm>
            <a:off x="311700" y="15367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b="1" lang="en" sz="2838">
                <a:solidFill>
                  <a:srgbClr val="4A4566"/>
                </a:solidFill>
                <a:latin typeface="Montserrat"/>
                <a:ea typeface="Montserrat"/>
                <a:cs typeface="Montserrat"/>
                <a:sym typeface="Montserrat"/>
              </a:rPr>
              <a:t>Product Profitability &amp; Returns</a:t>
            </a:r>
            <a:endParaRPr sz="2820"/>
          </a:p>
        </p:txBody>
      </p:sp>
      <p:pic>
        <p:nvPicPr>
          <p:cNvPr id="182" name="Google Shape;182;p31" title="Product Profitability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38050" y="878775"/>
            <a:ext cx="8258726" cy="4112325"/>
          </a:xfrm>
          <a:prstGeom prst="rect">
            <a:avLst/>
          </a:prstGeom>
          <a:noFill/>
          <a:ln cap="flat" cmpd="sng" w="9525">
            <a:solidFill>
              <a:srgbClr val="EDEFEF"/>
            </a:solidFill>
            <a:prstDash val="solid"/>
            <a:round/>
            <a:headEnd len="sm" w="sm" type="none"/>
            <a:tailEnd len="sm" w="sm" type="none"/>
          </a:ln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DDDEDF"/>
        </a:solidFill>
      </p:bgPr>
    </p:bg>
    <p:spTree>
      <p:nvGrpSpPr>
        <p:cNvPr id="186" name="Shape 1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" name="Google Shape;187;p32"/>
          <p:cNvSpPr txBox="1"/>
          <p:nvPr>
            <p:ph idx="1" type="body"/>
          </p:nvPr>
        </p:nvSpPr>
        <p:spPr>
          <a:xfrm>
            <a:off x="311700" y="0"/>
            <a:ext cx="8520600" cy="51435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1200"/>
              </a:spcAft>
              <a:buNone/>
            </a:pPr>
            <a:r>
              <a:rPr lang="en" sz="4500">
                <a:solidFill>
                  <a:srgbClr val="4A4566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rPr>
              <a:t>THANK YOU !</a:t>
            </a:r>
            <a:endParaRPr sz="4500">
              <a:solidFill>
                <a:srgbClr val="4A4566"/>
              </a:solidFill>
              <a:latin typeface="Montserrat ExtraBold"/>
              <a:ea typeface="Montserrat ExtraBold"/>
              <a:cs typeface="Montserrat ExtraBold"/>
              <a:sym typeface="Montserrat ExtraBold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